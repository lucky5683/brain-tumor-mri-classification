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9" d="100"/>
          <a:sy n="79" d="100"/>
        </p:scale>
        <p:origin x="74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3367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shown at every review. Change the review number in the pill (I, II or III), fill in the project title, team names with register numbers, guide name, batch number and review date. Keep the title the same across all three reviews unless the guide approves a change.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Faculty / coordinator slide. Adjust the expected progress, marks and timing to match the department review circular. Students may delete this slide in their own copy, or keep it so the panel sees which part of the work is being reviewed.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only the column for the current review, or keep all three and highlight the current one. The headings match the chapters of the mini project report template.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same abstract as the report, shortened if needed. Give 3 to 5 keywords. At Review I the result can be the expected outcome; update it with actual numbers by Review III.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points only; explain them orally. Cite any statistic with a reference number that appears on the References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clear statement the panel can judge the whole project against. Avoid listing features here; that belongs on the Objectives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3 or 4 objectives that start with an action verb and can be checked at Review III. The scope prevents the panel from expecting more than a mini project can deliver.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one paper, cited by its reference number. Prefer IEEE, Springer, Elsevier, ACM and Scopus-indexed sources. Duplicate this slide for the remaining papers.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each limitation with the way the proposed system answers it. This is the last slide for Review 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dashed box with the architecture diagram from Chapter 3 of the report, then explain the data flow from input to output. Figure numbers should match the report.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these from Table 3.1 of the report so the two match. Mention version numbers of the main frameworks.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Rename the five steps to match your project, or replace them with the flowchart (Figure 3.2 of the report). Explain why the chosen algorithm suits the problem.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card per module. Naming the owner shows the panel each member's contribution, which reviews usually assess individually.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planned weeks with the square and write the actual status in words. Align the weeks with the department review schedule. This is the last slide for Review II.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working system: home screen, main function, and output. Keep a live demo ready; use these screenshots as backup if the demo fails. Mention the tools and the GitHub repository link.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only numbers you actually measured. Add a graph (accuracy curve, confusion matrix or bar chart) on a separate slide if it helps. Explain why the proposed system performs better or where it does not.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same test cases as Table 5.1 of the report. Include at least one invalid-input and one boundary case; panels often ask how the system handles bad input.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each objective from slide 7 directly, with the measured result. Mention any paper, hackathon or certification that came out of the work.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style and numbering as the report. List only papers cited on the slides, in the order they first appear. Shown at every review.</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for every review. Note the panel's suggestions and show at the next review how each was addressed.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2"/>
            <a:ext cx="9144000" cy="438150"/>
          </a:xfrm>
          <a:prstGeom prst="rect">
            <a:avLst/>
          </a:prstGeom>
          <a:noFill/>
          <a:ln/>
        </p:spPr>
        <p:txBody>
          <a:bodyPr wrap="square" lIns="0" tIns="0" rIns="0" bIns="0" rtlCol="0" anchor="t"/>
          <a:lstStyle>
            <a:lvl1pPr marL="0" indent="0" algn="l">
              <a:lnSpc>
                <a:spcPct val="115000"/>
              </a:lnSpc>
              <a:buNone/>
              <a:defRPr lang="en-US" sz="3000" dirty="0">
                <a:solidFill>
                  <a:srgbClr val="000000"/>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45312"/>
            <a:ext cx="10566400" cy="4199888"/>
          </a:xfrm>
          <a:prstGeom prst="rect">
            <a:avLst/>
          </a:prstGeom>
          <a:noFill/>
          <a:ln/>
        </p:spPr>
        <p:txBody>
          <a:bodyPr wrap="square" lIns="0" tIns="0" rIns="0" bIns="0" rtlCol="0" anchor="t"/>
          <a:lstStyle>
            <a:lvl1pPr marL="0" indent="0" algn="l">
              <a:lnSpc>
                <a:spcPct val="140000"/>
              </a:lnSpc>
              <a:buNone/>
              <a:defRPr lang="en-US" sz="1600" dirty="0">
                <a:solidFill>
                  <a:srgbClr val="000000"/>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2"/>
            <a:ext cx="9144000" cy="438150"/>
          </a:xfrm>
          <a:prstGeom prst="rect">
            <a:avLst/>
          </a:prstGeom>
          <a:noFill/>
          <a:ln/>
        </p:spPr>
        <p:txBody>
          <a:bodyPr wrap="square" lIns="0" tIns="0" rIns="0" bIns="0" rtlCol="0" anchor="t"/>
          <a:lstStyle>
            <a:lvl1pPr marL="0" indent="0" algn="l">
              <a:lnSpc>
                <a:spcPct val="115000"/>
              </a:lnSpc>
              <a:buNone/>
              <a:defRPr lang="en-US" sz="3000" dirty="0">
                <a:solidFill>
                  <a:srgbClr val="000000"/>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45312"/>
            <a:ext cx="10566400" cy="4199888"/>
          </a:xfrm>
          <a:prstGeom prst="rect">
            <a:avLst/>
          </a:prstGeom>
          <a:noFill/>
          <a:ln/>
        </p:spPr>
        <p:txBody>
          <a:bodyPr wrap="square" lIns="0" tIns="0" rIns="0" bIns="0" rtlCol="0" anchor="t"/>
          <a:lstStyle>
            <a:lvl1pPr marL="0" indent="0" algn="l">
              <a:lnSpc>
                <a:spcPct val="140000"/>
              </a:lnSpc>
              <a:buNone/>
              <a:defRPr lang="en-US" sz="1600" dirty="0">
                <a:solidFill>
                  <a:srgbClr val="000000"/>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jpe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eg"/><Relationship Id="rId4" Type="http://schemas.openxmlformats.org/officeDocument/2006/relationships/image" Target="../media/image4.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jpe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jpeg"/><Relationship Id="rId4" Type="http://schemas.openxmlformats.org/officeDocument/2006/relationships/image" Target="../media/image5.png"/><Relationship Id="rId5"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9150" y="1811655"/>
            <a:ext cx="3476625" cy="347980"/>
          </a:xfrm>
          <a:prstGeom prst="roundRect">
            <a:avLst>
              <a:gd name="adj" fmla="val 50000"/>
            </a:avLst>
          </a:prstGeom>
          <a:solidFill>
            <a:srgbClr val="FFFFFF"/>
          </a:solidFill>
          <a:ln w="12700">
            <a:solidFill>
              <a:srgbClr val="000000"/>
            </a:solidFill>
            <a:prstDash val="solid"/>
          </a:ln>
        </p:spPr>
        <p:txBody>
          <a:bodyPr wrap="none" lIns="0" tIns="0" rIns="0" bIns="0" rtlCol="0" anchor="ctr">
            <a:normAutofit/>
          </a:bodyPr>
          <a:lstStyle/>
          <a:p>
            <a:pPr marL="0" indent="0" algn="ctr">
              <a:lnSpc>
                <a:spcPts val="1680"/>
              </a:lnSpc>
              <a:spcAft>
                <a:spcPts val="300"/>
              </a:spcAft>
              <a:buNone/>
            </a:pPr>
            <a:r>
              <a:t>MINI PROJECT REVIEW – III</a:t>
            </a:r>
            <a:endParaRPr lang="en-US" sz="1200" dirty="0"/>
          </a:p>
        </p:txBody>
      </p:sp>
      <p:sp>
        <p:nvSpPr>
          <p:cNvPr id="3" name="Text 1"/>
          <p:cNvSpPr>
            <a:spLocks noGrp="1"/>
          </p:cNvSpPr>
          <p:nvPr>
            <p:ph type="title"/>
          </p:nvPr>
        </p:nvSpPr>
        <p:spPr>
          <a:xfrm>
            <a:off x="812800" y="2394585"/>
            <a:ext cx="7639304" cy="609600"/>
          </a:xfrm>
          <a:prstGeom prst="rect">
            <a:avLst/>
          </a:prstGeom>
          <a:noFill/>
          <a:ln/>
        </p:spPr>
        <p:txBody>
          <a:bodyPr wrap="square" lIns="0" tIns="0" rIns="0" bIns="0" rtlCol="0" anchor="t">
            <a:normAutofit/>
          </a:bodyPr>
          <a:lstStyle/>
          <a:p>
            <a:pPr marL="0" indent="0" algn="l">
              <a:lnSpc>
                <a:spcPts val="4600"/>
              </a:lnSpc>
              <a:spcAft>
                <a:spcPts val="300"/>
              </a:spcAft>
              <a:buNone/>
            </a:pPr>
            <a:r>
              <a:t>Brain Tumor MRI Image Classification Using EfficientNet-B0 with Grad-CAM</a:t>
            </a:r>
            <a:endParaRPr lang="en-US" sz="4000" dirty="0"/>
          </a:p>
        </p:txBody>
      </p:sp>
      <p:sp>
        <p:nvSpPr>
          <p:cNvPr id="4" name="Text 2"/>
          <p:cNvSpPr/>
          <p:nvPr/>
        </p:nvSpPr>
        <p:spPr>
          <a:xfrm>
            <a:off x="812800" y="3207385"/>
            <a:ext cx="223088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00000"/>
                </a:solidFill>
                <a:latin typeface="Public Sans" pitchFamily="34" charset="0"/>
                <a:ea typeface="Public Sans" pitchFamily="34" charset="-122"/>
                <a:cs typeface="Public Sans" pitchFamily="34" charset="-120"/>
              </a:rPr>
              <a:t>PRESENTED BY</a:t>
            </a:r>
            <a:endParaRPr lang="en-US" sz="1200" dirty="0"/>
          </a:p>
        </p:txBody>
      </p:sp>
      <p:sp>
        <p:nvSpPr>
          <p:cNvPr id="5" name="Text 3"/>
          <p:cNvSpPr/>
          <p:nvPr/>
        </p:nvSpPr>
        <p:spPr>
          <a:xfrm>
            <a:off x="812800" y="3471545"/>
            <a:ext cx="2230883" cy="882650"/>
          </a:xfrm>
          <a:prstGeom prst="rect">
            <a:avLst/>
          </a:prstGeom>
          <a:noFill/>
          <a:ln/>
        </p:spPr>
        <p:txBody>
          <a:bodyPr wrap="square" lIns="0" tIns="0" rIns="0" bIns="0" rtlCol="0" anchor="t">
            <a:normAutofit/>
          </a:bodyPr>
          <a:lstStyle/>
          <a:p>
            <a:pPr marL="0" indent="0" algn="l">
              <a:lnSpc>
                <a:spcPts val="2250"/>
              </a:lnSpc>
              <a:spcAft>
                <a:spcPts val="300"/>
              </a:spcAft>
              <a:buNone/>
              <a:defRPr b="1"/>
            </a:pPr>
            <a:r>
              <a:t>Dinesh Kumar (Register No. 23BCE10001)</a:t>
            </a:r>
            <a:endParaRPr lang="en-US" sz="1500" dirty="0"/>
          </a:p>
        </p:txBody>
      </p:sp>
      <p:sp>
        <p:nvSpPr>
          <p:cNvPr id="6" name="Text 4"/>
          <p:cNvSpPr/>
          <p:nvPr/>
        </p:nvSpPr>
        <p:spPr>
          <a:xfrm>
            <a:off x="3385106" y="3207385"/>
            <a:ext cx="277268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00000"/>
                </a:solidFill>
                <a:latin typeface="Public Sans" pitchFamily="34" charset="0"/>
                <a:ea typeface="Public Sans" pitchFamily="34" charset="-122"/>
                <a:cs typeface="Public Sans" pitchFamily="34" charset="-120"/>
              </a:rPr>
              <a:t>UNDER THE GUIDANCE OF</a:t>
            </a:r>
            <a:endParaRPr lang="en-US" sz="1200" dirty="0"/>
          </a:p>
        </p:txBody>
      </p:sp>
      <p:sp>
        <p:nvSpPr>
          <p:cNvPr id="7" name="Text 5"/>
          <p:cNvSpPr/>
          <p:nvPr/>
        </p:nvSpPr>
        <p:spPr>
          <a:xfrm>
            <a:off x="3385106" y="3471545"/>
            <a:ext cx="2772682" cy="882650"/>
          </a:xfrm>
          <a:prstGeom prst="rect">
            <a:avLst/>
          </a:prstGeom>
          <a:noFill/>
          <a:ln/>
        </p:spPr>
        <p:txBody>
          <a:bodyPr wrap="square" lIns="0" tIns="0" rIns="0" bIns="0" rtlCol="0" anchor="t">
            <a:normAutofit/>
          </a:bodyPr>
          <a:lstStyle/>
          <a:p>
            <a:pPr marL="0" indent="0" algn="l">
              <a:lnSpc>
                <a:spcPts val="2250"/>
              </a:lnSpc>
              <a:spcAft>
                <a:spcPts val="300"/>
              </a:spcAft>
              <a:buNone/>
            </a:pPr>
            <a:r>
              <a:t>Guide: Dr. K. Ramanathan, Ph.D. | Associate Professor | Batch No. 04 — October 2026</a:t>
            </a:r>
            <a:endParaRPr lang="en-US" sz="1500" dirty="0"/>
          </a:p>
          <a:p>
            <a:pPr>
              <a:spcAft>
                <a:spcPts val="300"/>
              </a:spcAft>
            </a:pPr>
            <a:r>
              <a:t>[Designation]</a:t>
            </a:r>
          </a:p>
          <a:p>
            <a:pPr>
              <a:spcAft>
                <a:spcPts val="300"/>
              </a:spcAft>
            </a:pPr>
            <a:r>
              <a:t>Batch No. [Add batch] · 16-10-2026</a:t>
            </a:r>
          </a:p>
        </p:txBody>
      </p:sp>
      <p:sp>
        <p:nvSpPr>
          <p:cNvPr id="8" name="Text 6"/>
          <p:cNvSpPr/>
          <p:nvPr/>
        </p:nvSpPr>
        <p:spPr>
          <a:xfrm>
            <a:off x="812800" y="4557395"/>
            <a:ext cx="7639304"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00000"/>
                </a:solidFill>
                <a:latin typeface="Public Sans" pitchFamily="34" charset="0"/>
                <a:ea typeface="Public Sans" pitchFamily="34" charset="-122"/>
                <a:cs typeface="Public Sans" pitchFamily="34" charset="-120"/>
              </a:rPr>
              <a:t>Department of Computer Science &amp; Engineering (AI &amp; DS)</a:t>
            </a:r>
            <a:endParaRPr lang="en-US" sz="1300" dirty="0"/>
          </a:p>
          <a:p>
            <a:pPr marL="0" indent="0" algn="l">
              <a:lnSpc>
                <a:spcPts val="1950"/>
              </a:lnSpc>
              <a:buNone/>
            </a:pPr>
            <a:r>
              <a:rPr lang="en-US" sz="1300" dirty="0">
                <a:solidFill>
                  <a:srgbClr val="000000"/>
                </a:solidFill>
                <a:latin typeface="Public Sans" pitchFamily="34" charset="0"/>
                <a:ea typeface="Public Sans" pitchFamily="34" charset="-122"/>
                <a:cs typeface="Public Sans" pitchFamily="34" charset="-120"/>
              </a:rPr>
              <a:t>School of Technology · The Apollo University, Chittoor</a:t>
            </a:r>
            <a:endParaRPr lang="en-US" sz="1300" dirty="0"/>
          </a:p>
        </p:txBody>
      </p:sp>
      <p:sp>
        <p:nvSpPr>
          <p:cNvPr id="9" name="Shape 7"/>
          <p:cNvSpPr/>
          <p:nvPr/>
        </p:nvSpPr>
        <p:spPr>
          <a:xfrm>
            <a:off x="8845550" y="2165350"/>
            <a:ext cx="2527300" cy="2527300"/>
          </a:xfrm>
          <a:prstGeom prst="roundRect">
            <a:avLst>
              <a:gd name="adj" fmla="val 7789"/>
            </a:avLst>
          </a:prstGeom>
          <a:solidFill>
            <a:srgbClr val="FFFFFF"/>
          </a:solidFill>
          <a:ln w="12700">
            <a:solidFill>
              <a:srgbClr val="000000"/>
            </a:solidFill>
            <a:prstDash val="solid"/>
          </a:ln>
        </p:spPr>
        <p:txBody>
          <a:bodyPr/>
          <a:p/>
        </p:txBody>
      </p:sp>
      <p:pic>
        <p:nvPicPr>
          <p:cNvPr id="10" name="Image 0" descr="The Apollo University logo"/>
          <p:cNvPicPr>
            <a:picLocks noChangeAspect="1"/>
          </p:cNvPicPr>
          <p:nvPr/>
        </p:nvPicPr>
        <p:blipFill>
          <a:blip r:embed="rId3"/>
          <a:srcRect/>
          <a:stretch/>
        </p:blipFill>
        <p:spPr>
          <a:xfrm>
            <a:off x="9093200" y="2413000"/>
            <a:ext cx="2032000" cy="203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The Apollo University logo"/>
          <p:cNvPicPr>
            <a:picLocks noChangeAspect="1"/>
          </p:cNvPicPr>
          <p:nvPr/>
        </p:nvPicPr>
        <p:blipFill>
          <a:blip r:embed="rId3"/>
          <a:srcRect l="-12500" r="-12500"/>
          <a:stretch/>
        </p:blipFill>
        <p:spPr>
          <a:xfrm>
            <a:off x="10426700" y="609600"/>
            <a:ext cx="952500" cy="762000"/>
          </a:xfrm>
          <a:prstGeom prst="rect">
            <a:avLst/>
          </a:prstGeom>
        </p:spPr>
      </p:pic>
      <p:sp>
        <p:nvSpPr>
          <p:cNvPr id="3" name="Text 0"/>
          <p:cNvSpPr/>
          <p:nvPr/>
        </p:nvSpPr>
        <p:spPr>
          <a:xfrm>
            <a:off x="812800" y="812800"/>
            <a:ext cx="941832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Public Sans" pitchFamily="34" charset="0"/>
                <a:ea typeface="Public Sans" pitchFamily="34" charset="-122"/>
                <a:cs typeface="Public Sans" pitchFamily="34" charset="-120"/>
              </a:rPr>
              <a:t>REVIEW PLAN</a:t>
            </a:r>
            <a:endParaRPr lang="en-US" sz="1200" dirty="0"/>
          </a:p>
        </p:txBody>
      </p:sp>
      <p:sp>
        <p:nvSpPr>
          <p:cNvPr id="4" name="Text 1"/>
          <p:cNvSpPr>
            <a:spLocks noGrp="1"/>
          </p:cNvSpPr>
          <p:nvPr>
            <p:ph type="title"/>
          </p:nvPr>
        </p:nvSpPr>
        <p:spPr>
          <a:xfrm>
            <a:off x="812800" y="1102360"/>
            <a:ext cx="941832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00000"/>
                </a:solidFill>
                <a:latin typeface="Libre Baskerville" pitchFamily="18" charset="0"/>
                <a:ea typeface="Libre Baskerville" pitchFamily="18" charset="-122"/>
                <a:cs typeface="Libre Baskerville" pitchFamily="18" charset="-120"/>
              </a:rPr>
              <a:t>What to present at each review</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804670"/>
          <a:ext cx="10556241" cy="2120900"/>
        </p:xfrm>
        <a:graphic>
          <a:graphicData uri="http://schemas.openxmlformats.org/drawingml/2006/table">
            <a:tbl>
              <a:tblPr/>
              <a:tblGrid>
                <a:gridCol w="1477874">
                  <a:extLst>
                    <a:ext uri="{9D8B030D-6E8A-4147-A177-3AD203B41FA5}">
                      <a16:colId xmlns:a16="http://schemas.microsoft.com/office/drawing/2014/main" val="20000"/>
                    </a:ext>
                  </a:extLst>
                </a:gridCol>
                <a:gridCol w="3589122">
                  <a:extLst>
                    <a:ext uri="{9D8B030D-6E8A-4147-A177-3AD203B41FA5}">
                      <a16:colId xmlns:a16="http://schemas.microsoft.com/office/drawing/2014/main" val="20001"/>
                    </a:ext>
                  </a:extLst>
                </a:gridCol>
                <a:gridCol w="2322373">
                  <a:extLst>
                    <a:ext uri="{9D8B030D-6E8A-4147-A177-3AD203B41FA5}">
                      <a16:colId xmlns:a16="http://schemas.microsoft.com/office/drawing/2014/main" val="20002"/>
                    </a:ext>
                  </a:extLst>
                </a:gridCol>
                <a:gridCol w="1583436">
                  <a:extLst>
                    <a:ext uri="{9D8B030D-6E8A-4147-A177-3AD203B41FA5}">
                      <a16:colId xmlns:a16="http://schemas.microsoft.com/office/drawing/2014/main" val="20003"/>
                    </a:ext>
                  </a:extLst>
                </a:gridCol>
                <a:gridCol w="1583436">
                  <a:extLst>
                    <a:ext uri="{9D8B030D-6E8A-4147-A177-3AD203B41FA5}">
                      <a16:colId xmlns:a16="http://schemas.microsoft.com/office/drawing/2014/main" val="20004"/>
                    </a:ext>
                  </a:extLst>
                </a:gridCol>
              </a:tblGrid>
              <a:tr h="588010">
                <a:tc>
                  <a:txBody>
                    <a:bodyPr/>
                    <a:lstStyle/>
                    <a:p>
                      <a:pPr marL="0" indent="0">
                        <a:lnSpc>
                          <a:spcPts val="1820"/>
                        </a:lnSpc>
                        <a:buNone/>
                      </a:pPr>
                      <a:r>
                        <a:rPr lang="en-US" sz="1300" b="1" dirty="0">
                          <a:solidFill>
                            <a:srgbClr val="000000"/>
                          </a:solidFill>
                          <a:latin typeface="Public Sans" pitchFamily="34" charset="0"/>
                          <a:ea typeface="Public Sans" pitchFamily="34" charset="-122"/>
                          <a:cs typeface="Public Sans" pitchFamily="34" charset="-120"/>
                        </a:rPr>
                        <a:t>Review</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b="1" dirty="0">
                          <a:solidFill>
                            <a:srgbClr val="000000"/>
                          </a:solidFill>
                          <a:latin typeface="Public Sans" pitchFamily="34" charset="0"/>
                          <a:ea typeface="Public Sans" pitchFamily="34" charset="-122"/>
                          <a:cs typeface="Public Sans" pitchFamily="34" charset="-120"/>
                        </a:rPr>
                        <a:t>Focus</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b="1" dirty="0">
                          <a:solidFill>
                            <a:srgbClr val="000000"/>
                          </a:solidFill>
                          <a:latin typeface="Public Sans" pitchFamily="34" charset="0"/>
                          <a:ea typeface="Public Sans" pitchFamily="34" charset="-122"/>
                          <a:cs typeface="Public Sans" pitchFamily="34" charset="-120"/>
                        </a:rPr>
                        <a:t>Slides to present</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b="1" dirty="0">
                          <a:solidFill>
                            <a:srgbClr val="000000"/>
                          </a:solidFill>
                          <a:latin typeface="Public Sans" pitchFamily="34" charset="0"/>
                          <a:ea typeface="Public Sans" pitchFamily="34" charset="-122"/>
                          <a:cs typeface="Public Sans" pitchFamily="34" charset="-120"/>
                        </a:rPr>
                        <a:t>Expected progress</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b="1" dirty="0">
                          <a:solidFill>
                            <a:srgbClr val="000000"/>
                          </a:solidFill>
                          <a:latin typeface="Public Sans" pitchFamily="34" charset="0"/>
                          <a:ea typeface="Public Sans" pitchFamily="34" charset="-122"/>
                          <a:cs typeface="Public Sans" pitchFamily="34" charset="-120"/>
                        </a:rPr>
                        <a:t>Marks</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88010">
                <a:tc>
                  <a:txBody>
                    <a:bodyPr/>
                    <a:lstStyle/>
                    <a:p>
                      <a:pPr marL="0" indent="0">
                        <a:lnSpc>
                          <a:spcPts val="1820"/>
                        </a:lnSpc>
                        <a:buNone/>
                      </a:pPr>
                      <a:r>
                        <a:rPr lang="en-US" sz="1300" dirty="0">
                          <a:solidFill>
                            <a:srgbClr val="000000"/>
                          </a:solidFill>
                          <a:latin typeface="Public Sans" pitchFamily="34" charset="0"/>
                          <a:ea typeface="Public Sans" pitchFamily="34" charset="-122"/>
                          <a:cs typeface="Public Sans" pitchFamily="34" charset="-120"/>
                        </a:rPr>
                        <a:t>Review I</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00000"/>
                          </a:solidFill>
                          <a:latin typeface="Public Sans" pitchFamily="34" charset="0"/>
                          <a:ea typeface="Public Sans" pitchFamily="34" charset="-122"/>
                          <a:cs typeface="Public Sans" pitchFamily="34" charset="-120"/>
                        </a:rPr>
                        <a:t>Problem, objectives, literature survey, research gap</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00000"/>
                          </a:solidFill>
                          <a:latin typeface="Public Sans" pitchFamily="34" charset="0"/>
                          <a:ea typeface="Public Sans" pitchFamily="34" charset="-122"/>
                          <a:cs typeface="Public Sans" pitchFamily="34" charset="-120"/>
                        </a:rPr>
                        <a:t>1–9</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00000"/>
                          </a:solidFill>
                          <a:latin typeface="Public Sans" pitchFamily="34" charset="0"/>
                          <a:ea typeface="Public Sans" pitchFamily="34" charset="-122"/>
                          <a:cs typeface="Public Sans" pitchFamily="34" charset="-120"/>
                        </a:rPr>
                        <a:t>Problem fixed, 20%</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rPr sz="850"/>
                        <a:t>—</a:t>
                      </a: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8010">
                <a:tc>
                  <a:txBody>
                    <a:bodyPr/>
                    <a:lstStyle/>
                    <a:p>
                      <a:pPr marL="0" indent="0">
                        <a:lnSpc>
                          <a:spcPts val="1820"/>
                        </a:lnSpc>
                        <a:buNone/>
                      </a:pPr>
                      <a:r>
                        <a:rPr lang="en-US" sz="1300" dirty="0">
                          <a:solidFill>
                            <a:srgbClr val="000000"/>
                          </a:solidFill>
                          <a:latin typeface="Public Sans" pitchFamily="34" charset="0"/>
                          <a:ea typeface="Public Sans" pitchFamily="34" charset="-122"/>
                          <a:cs typeface="Public Sans" pitchFamily="34" charset="-120"/>
                        </a:rPr>
                        <a:t>Review II</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00000"/>
                          </a:solidFill>
                          <a:latin typeface="Public Sans" pitchFamily="34" charset="0"/>
                          <a:ea typeface="Public Sans" pitchFamily="34" charset="-122"/>
                          <a:cs typeface="Public Sans" pitchFamily="34" charset="-120"/>
                        </a:rPr>
                        <a:t>Architecture, requirements, methodology, modules, work plan</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00000"/>
                          </a:solidFill>
                          <a:latin typeface="Public Sans" pitchFamily="34" charset="0"/>
                          <a:ea typeface="Public Sans" pitchFamily="34" charset="-122"/>
                          <a:cs typeface="Public Sans" pitchFamily="34" charset="-120"/>
                        </a:rPr>
                        <a:t>1–3, 10–14</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00000"/>
                          </a:solidFill>
                          <a:latin typeface="Public Sans" pitchFamily="34" charset="0"/>
                          <a:ea typeface="Public Sans" pitchFamily="34" charset="-122"/>
                          <a:cs typeface="Public Sans" pitchFamily="34" charset="-120"/>
                        </a:rPr>
                        <a:t>50%</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rPr sz="850"/>
                        <a:t>—</a:t>
                      </a: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000000"/>
                          </a:solidFill>
                          <a:latin typeface="Public Sans" pitchFamily="34" charset="0"/>
                          <a:ea typeface="Public Sans" pitchFamily="34" charset="-122"/>
                          <a:cs typeface="Public Sans" pitchFamily="34" charset="-120"/>
                        </a:rPr>
                        <a:t>Review III</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00000"/>
                          </a:solidFill>
                          <a:latin typeface="Public Sans" pitchFamily="34" charset="0"/>
                          <a:ea typeface="Public Sans" pitchFamily="34" charset="-122"/>
                          <a:cs typeface="Public Sans" pitchFamily="34" charset="-120"/>
                        </a:rPr>
                        <a:t>Implementation, results, testing, conclusion</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00000"/>
                          </a:solidFill>
                          <a:latin typeface="Public Sans" pitchFamily="34" charset="0"/>
                          <a:ea typeface="Public Sans" pitchFamily="34" charset="-122"/>
                          <a:cs typeface="Public Sans" pitchFamily="34" charset="-120"/>
                        </a:rPr>
                        <a:t>1–3, 15–20</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00000"/>
                          </a:solidFill>
                          <a:latin typeface="Public Sans" pitchFamily="34" charset="0"/>
                          <a:ea typeface="Public Sans" pitchFamily="34" charset="-122"/>
                          <a:cs typeface="Public Sans" pitchFamily="34" charset="-120"/>
                        </a:rPr>
                        <a:t>100% + report</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rPr sz="850"/>
                        <a:t>—</a:t>
                      </a: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2"/>
          <p:cNvSpPr/>
          <p:nvPr/>
        </p:nvSpPr>
        <p:spPr>
          <a:xfrm>
            <a:off x="812800" y="4179570"/>
            <a:ext cx="10883392" cy="520700"/>
          </a:xfrm>
          <a:prstGeom prst="rect">
            <a:avLst/>
          </a:prstGeom>
          <a:noFill/>
          <a:ln/>
        </p:spPr>
        <p:txBody>
          <a:bodyPr wrap="square" lIns="0" tIns="0" rIns="0" bIns="0" rtlCol="0" anchor="t">
            <a:normAutofit/>
          </a:bodyPr>
          <a:lstStyle/>
          <a:p>
            <a:pPr marL="0" indent="0" algn="l">
              <a:lnSpc>
                <a:spcPts val="1950"/>
              </a:lnSpc>
              <a:spcAft>
                <a:spcPts val="300"/>
              </a:spcAft>
              <a:buNone/>
            </a:pPr>
            <a:r>
              <a:t>Presentation: 10 minutes + demo / Q&amp;A: 5 minutes. Hide slides not required for the review.</a:t>
            </a:r>
            <a:endParaRPr lang="en-US" sz="1300" dirty="0"/>
          </a:p>
        </p:txBody>
      </p:sp>
      <p:sp>
        <p:nvSpPr>
          <p:cNvPr id="7" name="Text 3"/>
          <p:cNvSpPr/>
          <p:nvPr/>
        </p:nvSpPr>
        <p:spPr>
          <a:xfrm>
            <a:off x="812800" y="6238241"/>
            <a:ext cx="8502650" cy="238760"/>
          </a:xfrm>
          <a:prstGeom prst="rect">
            <a:avLst/>
          </a:prstGeom>
          <a:noFill/>
          <a:ln/>
        </p:spPr>
        <p:txBody>
          <a:bodyPr wrap="square" lIns="0" tIns="0" rIns="0" bIns="0" rtlCol="0" anchor="t">
            <a:normAutofit/>
          </a:bodyPr>
          <a:lstStyle/>
          <a:p>
            <a:pPr marL="0" indent="0" algn="l">
              <a:lnSpc>
                <a:spcPts val="1680"/>
              </a:lnSpc>
              <a:spcAft>
                <a:spcPts val="300"/>
              </a:spcAft>
              <a:buNone/>
            </a:pPr>
            <a:r>
              <a:t>The Apollo University · Dept. of CSE (AI &amp; DS) · Mini Project Review III</a:t>
            </a:r>
            <a:endParaRPr lang="en-US" sz="1200" dirty="0"/>
          </a:p>
        </p:txBody>
      </p:sp>
      <p:sp>
        <p:nvSpPr>
          <p:cNvPr id="8" name="Text 4"/>
          <p:cNvSpPr/>
          <p:nvPr/>
        </p:nvSpPr>
        <p:spPr>
          <a:xfrm>
            <a:off x="10566400" y="6238241"/>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Public Sans" pitchFamily="34" charset="0"/>
                <a:ea typeface="Public Sans" pitchFamily="34" charset="-122"/>
                <a:cs typeface="Public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The Apollo University logo"/>
          <p:cNvPicPr>
            <a:picLocks noChangeAspect="1"/>
          </p:cNvPicPr>
          <p:nvPr/>
        </p:nvPicPr>
        <p:blipFill>
          <a:blip r:embed="rId3"/>
          <a:srcRect l="-12500" r="-12500"/>
          <a:stretch/>
        </p:blipFill>
        <p:spPr>
          <a:xfrm>
            <a:off x="10426700" y="609600"/>
            <a:ext cx="952500" cy="762000"/>
          </a:xfrm>
          <a:prstGeom prst="rect">
            <a:avLst/>
          </a:prstGeom>
        </p:spPr>
      </p:pic>
      <p:sp>
        <p:nvSpPr>
          <p:cNvPr id="3" name="Text 0"/>
          <p:cNvSpPr/>
          <p:nvPr/>
        </p:nvSpPr>
        <p:spPr>
          <a:xfrm>
            <a:off x="812800" y="812800"/>
            <a:ext cx="941832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Public Sans" pitchFamily="34" charset="0"/>
                <a:ea typeface="Public Sans" pitchFamily="34" charset="-122"/>
                <a:cs typeface="Public Sans" pitchFamily="34" charset="-120"/>
              </a:rPr>
              <a:t>OUTLINE</a:t>
            </a:r>
            <a:endParaRPr lang="en-US" sz="1200" dirty="0"/>
          </a:p>
        </p:txBody>
      </p:sp>
      <p:sp>
        <p:nvSpPr>
          <p:cNvPr id="4" name="Text 1"/>
          <p:cNvSpPr>
            <a:spLocks noGrp="1"/>
          </p:cNvSpPr>
          <p:nvPr>
            <p:ph type="title"/>
          </p:nvPr>
        </p:nvSpPr>
        <p:spPr>
          <a:xfrm>
            <a:off x="812800" y="1102361"/>
            <a:ext cx="941832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00000"/>
                </a:solidFill>
                <a:latin typeface="Libre Baskerville" pitchFamily="18" charset="0"/>
                <a:ea typeface="Libre Baskerville" pitchFamily="18" charset="-122"/>
                <a:cs typeface="Libre Baskerville" pitchFamily="18" charset="-120"/>
              </a:rPr>
              <a:t>Contents of this review</a:t>
            </a:r>
            <a:endParaRPr lang="en-US" sz="3000" dirty="0"/>
          </a:p>
        </p:txBody>
      </p:sp>
      <p:sp>
        <p:nvSpPr>
          <p:cNvPr id="5" name="Shape 2"/>
          <p:cNvSpPr/>
          <p:nvPr/>
        </p:nvSpPr>
        <p:spPr>
          <a:xfrm>
            <a:off x="812800" y="1845311"/>
            <a:ext cx="3386614" cy="2621280"/>
          </a:xfrm>
          <a:prstGeom prst="roundRect">
            <a:avLst>
              <a:gd name="adj" fmla="val 4845"/>
            </a:avLst>
          </a:prstGeom>
          <a:solidFill>
            <a:srgbClr val="FFFFFF"/>
          </a:solidFill>
          <a:ln/>
        </p:spPr>
        <p:txBody>
          <a:bodyPr/>
          <a:p/>
        </p:txBody>
      </p:sp>
      <p:sp>
        <p:nvSpPr>
          <p:cNvPr id="6" name="Shape 3"/>
          <p:cNvSpPr/>
          <p:nvPr/>
        </p:nvSpPr>
        <p:spPr>
          <a:xfrm>
            <a:off x="812800" y="1845311"/>
            <a:ext cx="3386614" cy="2621280"/>
          </a:xfrm>
          <a:custGeom>
            <a:avLst/>
            <a:gdLst/>
            <a:ahLst/>
            <a:cxnLst/>
            <a:rect l="l" t="t" r="r" b="b"/>
            <a:pathLst>
              <a:path w="3386614" h="2621280">
                <a:moveTo>
                  <a:pt x="127000" y="0"/>
                </a:moveTo>
                <a:lnTo>
                  <a:pt x="3259614" y="0"/>
                </a:lnTo>
                <a:arcTo wR="127000" hR="127000" stAng="16200000" swAng="5400000"/>
                <a:lnTo>
                  <a:pt x="3386614" y="2494280"/>
                </a:lnTo>
                <a:arcTo wR="127000" hR="127000" stAng="0" swAng="5400000"/>
                <a:lnTo>
                  <a:pt x="127000" y="2621280"/>
                </a:lnTo>
                <a:arcTo wR="127000" hR="127000" stAng="5400000" swAng="5400000"/>
                <a:lnTo>
                  <a:pt x="0" y="127000"/>
                </a:lnTo>
                <a:arcTo wR="127000" hR="127000" stAng="10800000" swAng="5400000"/>
                <a:close/>
                <a:moveTo>
                  <a:pt x="127000" y="50800"/>
                </a:moveTo>
                <a:arcTo wR="114300" hR="76200" stAng="16200000" swAng="-5400000"/>
                <a:lnTo>
                  <a:pt x="12700" y="2494280"/>
                </a:lnTo>
                <a:arcTo wR="114300" hR="114300" stAng="10800000" swAng="-5400000"/>
                <a:lnTo>
                  <a:pt x="3259614" y="2608580"/>
                </a:lnTo>
                <a:arcTo wR="114300" hR="114300" stAng="5400000" swAng="-5400000"/>
                <a:lnTo>
                  <a:pt x="3373914" y="127000"/>
                </a:lnTo>
                <a:arcTo wR="114300" hR="76200" stAng="0" swAng="-5400000"/>
                <a:close/>
              </a:path>
            </a:pathLst>
          </a:custGeom>
          <a:solidFill>
            <a:srgbClr val="000000"/>
          </a:solidFill>
          <a:ln/>
        </p:spPr>
        <p:txBody>
          <a:bodyPr/>
          <a:p/>
        </p:txBody>
      </p:sp>
      <p:sp>
        <p:nvSpPr>
          <p:cNvPr id="7" name="Text 4"/>
          <p:cNvSpPr/>
          <p:nvPr/>
        </p:nvSpPr>
        <p:spPr>
          <a:xfrm>
            <a:off x="1076960" y="2150111"/>
            <a:ext cx="294404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0000"/>
                </a:solidFill>
                <a:latin typeface="Public Sans" pitchFamily="34" charset="0"/>
                <a:ea typeface="Public Sans" pitchFamily="34" charset="-122"/>
                <a:cs typeface="Public Sans" pitchFamily="34" charset="-120"/>
              </a:rPr>
              <a:t>Review I</a:t>
            </a:r>
            <a:endParaRPr lang="en-US" sz="1600" dirty="0"/>
          </a:p>
        </p:txBody>
      </p:sp>
      <p:sp>
        <p:nvSpPr>
          <p:cNvPr id="8" name="Text 5"/>
          <p:cNvSpPr/>
          <p:nvPr/>
        </p:nvSpPr>
        <p:spPr>
          <a:xfrm>
            <a:off x="1109901" y="2495550"/>
            <a:ext cx="2903482" cy="1732280"/>
          </a:xfrm>
          <a:prstGeom prst="rect">
            <a:avLst/>
          </a:prstGeom>
          <a:noFill/>
          <a:ln/>
        </p:spPr>
        <p:txBody>
          <a:bodyPr wrap="square" lIns="0" tIns="0" rIns="0" bIns="0" rtlCol="0" anchor="t">
            <a:normAutofit/>
          </a:bodyPr>
          <a:lstStyle/>
          <a:p>
            <a:pPr marL="221059" indent="-221059" algn="l">
              <a:lnSpc>
                <a:spcPts val="2240"/>
              </a:lnSpc>
              <a:buSzPct val="100000"/>
              <a:buFontTx/>
              <a:buAutoNum type="arabicPeriod"/>
            </a:pPr>
            <a:r>
              <a:rPr lang="en-US" sz="1400" dirty="0">
                <a:solidFill>
                  <a:srgbClr val="000000"/>
                </a:solidFill>
                <a:latin typeface="Public Sans" pitchFamily="34" charset="0"/>
                <a:ea typeface="Public Sans" pitchFamily="34" charset="-122"/>
                <a:cs typeface="Public Sans" pitchFamily="34" charset="-120"/>
              </a:rPr>
              <a:t>Abstract</a:t>
            </a:r>
            <a:endParaRPr lang="en-US" sz="1400" dirty="0"/>
          </a:p>
          <a:p>
            <a:pPr marL="221059" indent="-221059" algn="l">
              <a:lnSpc>
                <a:spcPts val="2240"/>
              </a:lnSpc>
              <a:buSzPct val="100000"/>
              <a:buFontTx/>
              <a:buAutoNum type="arabicPeriod"/>
            </a:pPr>
            <a:r>
              <a:rPr lang="en-US" sz="1400" dirty="0">
                <a:solidFill>
                  <a:srgbClr val="000000"/>
                </a:solidFill>
                <a:latin typeface="Public Sans" pitchFamily="34" charset="0"/>
                <a:ea typeface="Public Sans" pitchFamily="34" charset="-122"/>
                <a:cs typeface="Public Sans" pitchFamily="34" charset="-120"/>
              </a:rPr>
              <a:t>Introduction</a:t>
            </a:r>
            <a:endParaRPr lang="en-US" sz="1400" dirty="0"/>
          </a:p>
          <a:p>
            <a:pPr marL="221059" indent="-221059" algn="l">
              <a:lnSpc>
                <a:spcPts val="2240"/>
              </a:lnSpc>
              <a:buSzPct val="100000"/>
              <a:buFontTx/>
              <a:buAutoNum type="arabicPeriod"/>
            </a:pPr>
            <a:r>
              <a:rPr lang="en-US" sz="1400" dirty="0">
                <a:solidFill>
                  <a:srgbClr val="000000"/>
                </a:solidFill>
                <a:latin typeface="Public Sans" pitchFamily="34" charset="0"/>
                <a:ea typeface="Public Sans" pitchFamily="34" charset="-122"/>
                <a:cs typeface="Public Sans" pitchFamily="34" charset="-120"/>
              </a:rPr>
              <a:t>Problem statement</a:t>
            </a:r>
            <a:endParaRPr lang="en-US" sz="1400" dirty="0"/>
          </a:p>
          <a:p>
            <a:pPr marL="221059" indent="-221059" algn="l">
              <a:lnSpc>
                <a:spcPts val="2240"/>
              </a:lnSpc>
              <a:buSzPct val="100000"/>
              <a:buFontTx/>
              <a:buAutoNum type="arabicPeriod"/>
            </a:pPr>
            <a:r>
              <a:rPr lang="en-US" sz="1400" dirty="0">
                <a:solidFill>
                  <a:srgbClr val="000000"/>
                </a:solidFill>
                <a:latin typeface="Public Sans" pitchFamily="34" charset="0"/>
                <a:ea typeface="Public Sans" pitchFamily="34" charset="-122"/>
                <a:cs typeface="Public Sans" pitchFamily="34" charset="-120"/>
              </a:rPr>
              <a:t>Objectives and scope</a:t>
            </a:r>
            <a:endParaRPr lang="en-US" sz="1400" dirty="0"/>
          </a:p>
          <a:p>
            <a:pPr marL="221059" indent="-221059" algn="l">
              <a:lnSpc>
                <a:spcPts val="2240"/>
              </a:lnSpc>
              <a:buSzPct val="100000"/>
              <a:buFontTx/>
              <a:buAutoNum type="arabicPeriod"/>
            </a:pPr>
            <a:r>
              <a:rPr lang="en-US" sz="1400" dirty="0">
                <a:solidFill>
                  <a:srgbClr val="000000"/>
                </a:solidFill>
                <a:latin typeface="Public Sans" pitchFamily="34" charset="0"/>
                <a:ea typeface="Public Sans" pitchFamily="34" charset="-122"/>
                <a:cs typeface="Public Sans" pitchFamily="34" charset="-120"/>
              </a:rPr>
              <a:t>Literature survey</a:t>
            </a:r>
            <a:endParaRPr lang="en-US" sz="1400" dirty="0"/>
          </a:p>
          <a:p>
            <a:pPr marL="221059" indent="-221059" algn="l">
              <a:lnSpc>
                <a:spcPts val="2240"/>
              </a:lnSpc>
              <a:buSzPct val="100000"/>
              <a:buFontTx/>
              <a:buAutoNum type="arabicPeriod"/>
            </a:pPr>
            <a:r>
              <a:rPr lang="en-US" sz="1400" dirty="0">
                <a:solidFill>
                  <a:srgbClr val="000000"/>
                </a:solidFill>
                <a:latin typeface="Public Sans" pitchFamily="34" charset="0"/>
                <a:ea typeface="Public Sans" pitchFamily="34" charset="-122"/>
                <a:cs typeface="Public Sans" pitchFamily="34" charset="-120"/>
              </a:rPr>
              <a:t>Research gap</a:t>
            </a:r>
            <a:endParaRPr lang="en-US" sz="1400" dirty="0"/>
          </a:p>
        </p:txBody>
      </p:sp>
      <p:sp>
        <p:nvSpPr>
          <p:cNvPr id="9" name="Shape 6"/>
          <p:cNvSpPr/>
          <p:nvPr/>
        </p:nvSpPr>
        <p:spPr>
          <a:xfrm>
            <a:off x="4402614" y="1845311"/>
            <a:ext cx="3386693" cy="2621280"/>
          </a:xfrm>
          <a:prstGeom prst="roundRect">
            <a:avLst>
              <a:gd name="adj" fmla="val 4845"/>
            </a:avLst>
          </a:prstGeom>
          <a:solidFill>
            <a:srgbClr val="FFFFFF"/>
          </a:solidFill>
          <a:ln/>
        </p:spPr>
        <p:txBody>
          <a:bodyPr/>
          <a:p/>
        </p:txBody>
      </p:sp>
      <p:sp>
        <p:nvSpPr>
          <p:cNvPr id="10" name="Shape 7"/>
          <p:cNvSpPr/>
          <p:nvPr/>
        </p:nvSpPr>
        <p:spPr>
          <a:xfrm>
            <a:off x="4402614" y="1845311"/>
            <a:ext cx="3386693" cy="2621280"/>
          </a:xfrm>
          <a:custGeom>
            <a:avLst/>
            <a:gdLst/>
            <a:ahLst/>
            <a:cxnLst/>
            <a:rect l="l" t="t" r="r" b="b"/>
            <a:pathLst>
              <a:path w="3386693" h="2621280">
                <a:moveTo>
                  <a:pt x="127000" y="0"/>
                </a:moveTo>
                <a:lnTo>
                  <a:pt x="3259693" y="0"/>
                </a:lnTo>
                <a:arcTo wR="127000" hR="127000" stAng="16200000" swAng="5400000"/>
                <a:lnTo>
                  <a:pt x="3386693" y="2494280"/>
                </a:lnTo>
                <a:arcTo wR="127000" hR="127000" stAng="0" swAng="5400000"/>
                <a:lnTo>
                  <a:pt x="127000" y="2621280"/>
                </a:lnTo>
                <a:arcTo wR="127000" hR="127000" stAng="5400000" swAng="5400000"/>
                <a:lnTo>
                  <a:pt x="0" y="127000"/>
                </a:lnTo>
                <a:arcTo wR="127000" hR="127000" stAng="10800000" swAng="5400000"/>
                <a:close/>
                <a:moveTo>
                  <a:pt x="127000" y="50800"/>
                </a:moveTo>
                <a:arcTo wR="114300" hR="76200" stAng="16200000" swAng="-5400000"/>
                <a:lnTo>
                  <a:pt x="12700" y="2494280"/>
                </a:lnTo>
                <a:arcTo wR="114300" hR="114300" stAng="10800000" swAng="-5400000"/>
                <a:lnTo>
                  <a:pt x="3259693" y="2608580"/>
                </a:lnTo>
                <a:arcTo wR="114300" hR="114300" stAng="5400000" swAng="-5400000"/>
                <a:lnTo>
                  <a:pt x="3373993" y="127000"/>
                </a:lnTo>
                <a:arcTo wR="114300" hR="76200" stAng="0" swAng="-5400000"/>
                <a:close/>
              </a:path>
            </a:pathLst>
          </a:custGeom>
          <a:solidFill>
            <a:srgbClr val="000000"/>
          </a:solidFill>
          <a:ln/>
        </p:spPr>
        <p:txBody>
          <a:bodyPr/>
          <a:p/>
        </p:txBody>
      </p:sp>
      <p:sp>
        <p:nvSpPr>
          <p:cNvPr id="11" name="Text 8"/>
          <p:cNvSpPr/>
          <p:nvPr/>
        </p:nvSpPr>
        <p:spPr>
          <a:xfrm>
            <a:off x="4666774" y="2150111"/>
            <a:ext cx="294412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0000"/>
                </a:solidFill>
                <a:latin typeface="Public Sans" pitchFamily="34" charset="0"/>
                <a:ea typeface="Public Sans" pitchFamily="34" charset="-122"/>
                <a:cs typeface="Public Sans" pitchFamily="34" charset="-120"/>
              </a:rPr>
              <a:t>Review II</a:t>
            </a:r>
            <a:endParaRPr lang="en-US" sz="1600" dirty="0"/>
          </a:p>
        </p:txBody>
      </p:sp>
      <p:sp>
        <p:nvSpPr>
          <p:cNvPr id="12" name="Text 9"/>
          <p:cNvSpPr/>
          <p:nvPr/>
        </p:nvSpPr>
        <p:spPr>
          <a:xfrm>
            <a:off x="4699714" y="2495550"/>
            <a:ext cx="2903564" cy="1447800"/>
          </a:xfrm>
          <a:prstGeom prst="rect">
            <a:avLst/>
          </a:prstGeom>
          <a:noFill/>
          <a:ln/>
        </p:spPr>
        <p:txBody>
          <a:bodyPr wrap="square" lIns="0" tIns="0" rIns="0" bIns="0" rtlCol="0" anchor="t">
            <a:normAutofit/>
          </a:bodyPr>
          <a:lstStyle/>
          <a:p>
            <a:pPr marL="221059" indent="-221059" algn="l">
              <a:lnSpc>
                <a:spcPts val="2240"/>
              </a:lnSpc>
              <a:buSzPct val="100000"/>
              <a:buFontTx/>
              <a:buAutoNum type="arabicPeriod"/>
            </a:pPr>
            <a:r>
              <a:rPr lang="en-US" sz="1400" dirty="0">
                <a:solidFill>
                  <a:srgbClr val="000000"/>
                </a:solidFill>
                <a:latin typeface="Public Sans" pitchFamily="34" charset="0"/>
                <a:ea typeface="Public Sans" pitchFamily="34" charset="-122"/>
                <a:cs typeface="Public Sans" pitchFamily="34" charset="-120"/>
              </a:rPr>
              <a:t>System architecture</a:t>
            </a:r>
            <a:endParaRPr lang="en-US" sz="1400" dirty="0"/>
          </a:p>
          <a:p>
            <a:pPr marL="221059" indent="-221059" algn="l">
              <a:lnSpc>
                <a:spcPts val="2240"/>
              </a:lnSpc>
              <a:buSzPct val="100000"/>
              <a:buFontTx/>
              <a:buAutoNum type="arabicPeriod"/>
            </a:pPr>
            <a:r>
              <a:rPr lang="en-US" sz="1400" dirty="0">
                <a:solidFill>
                  <a:srgbClr val="000000"/>
                </a:solidFill>
                <a:latin typeface="Public Sans" pitchFamily="34" charset="0"/>
                <a:ea typeface="Public Sans" pitchFamily="34" charset="-122"/>
                <a:cs typeface="Public Sans" pitchFamily="34" charset="-120"/>
              </a:rPr>
              <a:t>Requirements</a:t>
            </a:r>
            <a:endParaRPr lang="en-US" sz="1400" dirty="0"/>
          </a:p>
          <a:p>
            <a:pPr marL="221059" indent="-221059" algn="l">
              <a:lnSpc>
                <a:spcPts val="2240"/>
              </a:lnSpc>
              <a:buSzPct val="100000"/>
              <a:buFontTx/>
              <a:buAutoNum type="arabicPeriod"/>
            </a:pPr>
            <a:r>
              <a:rPr lang="en-US" sz="1400" dirty="0">
                <a:solidFill>
                  <a:srgbClr val="000000"/>
                </a:solidFill>
                <a:latin typeface="Public Sans" pitchFamily="34" charset="0"/>
                <a:ea typeface="Public Sans" pitchFamily="34" charset="-122"/>
                <a:cs typeface="Public Sans" pitchFamily="34" charset="-120"/>
              </a:rPr>
              <a:t>Methodology</a:t>
            </a:r>
            <a:endParaRPr lang="en-US" sz="1400" dirty="0"/>
          </a:p>
          <a:p>
            <a:pPr marL="221059" indent="-221059" algn="l">
              <a:lnSpc>
                <a:spcPts val="2240"/>
              </a:lnSpc>
              <a:buSzPct val="100000"/>
              <a:buFontTx/>
              <a:buAutoNum type="arabicPeriod"/>
            </a:pPr>
            <a:r>
              <a:rPr lang="en-US" sz="1400" dirty="0">
                <a:solidFill>
                  <a:srgbClr val="000000"/>
                </a:solidFill>
                <a:latin typeface="Public Sans" pitchFamily="34" charset="0"/>
                <a:ea typeface="Public Sans" pitchFamily="34" charset="-122"/>
                <a:cs typeface="Public Sans" pitchFamily="34" charset="-120"/>
              </a:rPr>
              <a:t>Module description</a:t>
            </a:r>
            <a:endParaRPr lang="en-US" sz="1400" dirty="0"/>
          </a:p>
          <a:p>
            <a:pPr marL="221059" indent="-221059" algn="l">
              <a:lnSpc>
                <a:spcPts val="2240"/>
              </a:lnSpc>
              <a:buSzPct val="100000"/>
              <a:buFontTx/>
              <a:buAutoNum type="arabicPeriod"/>
            </a:pPr>
            <a:r>
              <a:rPr lang="en-US" sz="1400" dirty="0">
                <a:solidFill>
                  <a:srgbClr val="000000"/>
                </a:solidFill>
                <a:latin typeface="Public Sans" pitchFamily="34" charset="0"/>
                <a:ea typeface="Public Sans" pitchFamily="34" charset="-122"/>
                <a:cs typeface="Public Sans" pitchFamily="34" charset="-120"/>
              </a:rPr>
              <a:t>Work plan and progress</a:t>
            </a:r>
            <a:endParaRPr lang="en-US" sz="1400" dirty="0"/>
          </a:p>
        </p:txBody>
      </p:sp>
      <p:sp>
        <p:nvSpPr>
          <p:cNvPr id="13" name="Shape 10"/>
          <p:cNvSpPr/>
          <p:nvPr/>
        </p:nvSpPr>
        <p:spPr>
          <a:xfrm>
            <a:off x="7992507" y="1845311"/>
            <a:ext cx="3386693" cy="2621280"/>
          </a:xfrm>
          <a:prstGeom prst="roundRect">
            <a:avLst>
              <a:gd name="adj" fmla="val 4845"/>
            </a:avLst>
          </a:prstGeom>
          <a:solidFill>
            <a:srgbClr val="FFFFFF"/>
          </a:solidFill>
          <a:ln/>
        </p:spPr>
        <p:txBody>
          <a:bodyPr/>
          <a:p/>
        </p:txBody>
      </p:sp>
      <p:sp>
        <p:nvSpPr>
          <p:cNvPr id="14" name="Shape 11"/>
          <p:cNvSpPr/>
          <p:nvPr/>
        </p:nvSpPr>
        <p:spPr>
          <a:xfrm>
            <a:off x="7992507" y="1845311"/>
            <a:ext cx="3386693" cy="2621280"/>
          </a:xfrm>
          <a:custGeom>
            <a:avLst/>
            <a:gdLst/>
            <a:ahLst/>
            <a:cxnLst/>
            <a:rect l="l" t="t" r="r" b="b"/>
            <a:pathLst>
              <a:path w="3386693" h="2621280">
                <a:moveTo>
                  <a:pt x="127000" y="0"/>
                </a:moveTo>
                <a:lnTo>
                  <a:pt x="3259693" y="0"/>
                </a:lnTo>
                <a:arcTo wR="127000" hR="127000" stAng="16200000" swAng="5400000"/>
                <a:lnTo>
                  <a:pt x="3386693" y="2494280"/>
                </a:lnTo>
                <a:arcTo wR="127000" hR="127000" stAng="0" swAng="5400000"/>
                <a:lnTo>
                  <a:pt x="127000" y="2621280"/>
                </a:lnTo>
                <a:arcTo wR="127000" hR="127000" stAng="5400000" swAng="5400000"/>
                <a:lnTo>
                  <a:pt x="0" y="127000"/>
                </a:lnTo>
                <a:arcTo wR="127000" hR="127000" stAng="10800000" swAng="5400000"/>
                <a:close/>
                <a:moveTo>
                  <a:pt x="127000" y="50800"/>
                </a:moveTo>
                <a:arcTo wR="114300" hR="76200" stAng="16200000" swAng="-5400000"/>
                <a:lnTo>
                  <a:pt x="12700" y="2494280"/>
                </a:lnTo>
                <a:arcTo wR="114300" hR="114300" stAng="10800000" swAng="-5400000"/>
                <a:lnTo>
                  <a:pt x="3259693" y="2608580"/>
                </a:lnTo>
                <a:arcTo wR="114300" hR="114300" stAng="5400000" swAng="-5400000"/>
                <a:lnTo>
                  <a:pt x="3373993" y="127000"/>
                </a:lnTo>
                <a:arcTo wR="114300" hR="76200" stAng="0" swAng="-5400000"/>
                <a:close/>
              </a:path>
            </a:pathLst>
          </a:custGeom>
          <a:solidFill>
            <a:srgbClr val="000000"/>
          </a:solidFill>
          <a:ln/>
        </p:spPr>
        <p:txBody>
          <a:bodyPr/>
          <a:p/>
        </p:txBody>
      </p:sp>
      <p:sp>
        <p:nvSpPr>
          <p:cNvPr id="15" name="Text 12"/>
          <p:cNvSpPr/>
          <p:nvPr/>
        </p:nvSpPr>
        <p:spPr>
          <a:xfrm>
            <a:off x="8256667" y="2150111"/>
            <a:ext cx="294412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0000"/>
                </a:solidFill>
                <a:latin typeface="Public Sans" pitchFamily="34" charset="0"/>
                <a:ea typeface="Public Sans" pitchFamily="34" charset="-122"/>
                <a:cs typeface="Public Sans" pitchFamily="34" charset="-120"/>
              </a:rPr>
              <a:t>Review III</a:t>
            </a:r>
            <a:endParaRPr lang="en-US" sz="1600" dirty="0"/>
          </a:p>
        </p:txBody>
      </p:sp>
      <p:sp>
        <p:nvSpPr>
          <p:cNvPr id="16" name="Text 13"/>
          <p:cNvSpPr/>
          <p:nvPr/>
        </p:nvSpPr>
        <p:spPr>
          <a:xfrm>
            <a:off x="8289608" y="2495550"/>
            <a:ext cx="2903564" cy="1447800"/>
          </a:xfrm>
          <a:prstGeom prst="rect">
            <a:avLst/>
          </a:prstGeom>
          <a:noFill/>
          <a:ln/>
        </p:spPr>
        <p:txBody>
          <a:bodyPr wrap="square" lIns="0" tIns="0" rIns="0" bIns="0" rtlCol="0" anchor="t">
            <a:normAutofit/>
          </a:bodyPr>
          <a:lstStyle/>
          <a:p>
            <a:pPr marL="221059" indent="-221059" algn="l">
              <a:lnSpc>
                <a:spcPts val="2240"/>
              </a:lnSpc>
              <a:buSzPct val="100000"/>
              <a:buFontTx/>
              <a:buAutoNum type="arabicPeriod"/>
            </a:pPr>
            <a:r>
              <a:rPr lang="en-US" sz="1400" dirty="0">
                <a:solidFill>
                  <a:srgbClr val="000000"/>
                </a:solidFill>
                <a:latin typeface="Public Sans" pitchFamily="34" charset="0"/>
                <a:ea typeface="Public Sans" pitchFamily="34" charset="-122"/>
                <a:cs typeface="Public Sans" pitchFamily="34" charset="-120"/>
              </a:rPr>
              <a:t>Implementation</a:t>
            </a:r>
            <a:endParaRPr lang="en-US" sz="1400" dirty="0"/>
          </a:p>
          <a:p>
            <a:pPr marL="221059" indent="-221059" algn="l">
              <a:lnSpc>
                <a:spcPts val="2240"/>
              </a:lnSpc>
              <a:buSzPct val="100000"/>
              <a:buFontTx/>
              <a:buAutoNum type="arabicPeriod"/>
            </a:pPr>
            <a:r>
              <a:rPr lang="en-US" sz="1400" dirty="0">
                <a:solidFill>
                  <a:srgbClr val="000000"/>
                </a:solidFill>
                <a:latin typeface="Public Sans" pitchFamily="34" charset="0"/>
                <a:ea typeface="Public Sans" pitchFamily="34" charset="-122"/>
                <a:cs typeface="Public Sans" pitchFamily="34" charset="-120"/>
              </a:rPr>
              <a:t>Results and analysis</a:t>
            </a:r>
            <a:endParaRPr lang="en-US" sz="1400" dirty="0"/>
          </a:p>
          <a:p>
            <a:pPr marL="221059" indent="-221059" algn="l">
              <a:lnSpc>
                <a:spcPts val="2240"/>
              </a:lnSpc>
              <a:buSzPct val="100000"/>
              <a:buFontTx/>
              <a:buAutoNum type="arabicPeriod"/>
            </a:pPr>
            <a:r>
              <a:rPr lang="en-US" sz="1400" dirty="0">
                <a:solidFill>
                  <a:srgbClr val="000000"/>
                </a:solidFill>
                <a:latin typeface="Public Sans" pitchFamily="34" charset="0"/>
                <a:ea typeface="Public Sans" pitchFamily="34" charset="-122"/>
                <a:cs typeface="Public Sans" pitchFamily="34" charset="-120"/>
              </a:rPr>
              <a:t>Testing</a:t>
            </a:r>
            <a:endParaRPr lang="en-US" sz="1400" dirty="0"/>
          </a:p>
          <a:p>
            <a:pPr marL="221059" indent="-221059" algn="l">
              <a:lnSpc>
                <a:spcPts val="2240"/>
              </a:lnSpc>
              <a:buSzPct val="100000"/>
              <a:buFontTx/>
              <a:buAutoNum type="arabicPeriod"/>
            </a:pPr>
            <a:r>
              <a:rPr lang="en-US" sz="1400" dirty="0">
                <a:solidFill>
                  <a:srgbClr val="000000"/>
                </a:solidFill>
                <a:latin typeface="Public Sans" pitchFamily="34" charset="0"/>
                <a:ea typeface="Public Sans" pitchFamily="34" charset="-122"/>
                <a:cs typeface="Public Sans" pitchFamily="34" charset="-120"/>
              </a:rPr>
              <a:t>Conclusion and future scope</a:t>
            </a:r>
            <a:endParaRPr lang="en-US" sz="1400" dirty="0"/>
          </a:p>
          <a:p>
            <a:pPr marL="221059" indent="-221059" algn="l">
              <a:lnSpc>
                <a:spcPts val="2240"/>
              </a:lnSpc>
              <a:buSzPct val="100000"/>
              <a:buFontTx/>
              <a:buAutoNum type="arabicPeriod"/>
            </a:pPr>
            <a:r>
              <a:rPr lang="en-US" sz="1400" dirty="0">
                <a:solidFill>
                  <a:srgbClr val="000000"/>
                </a:solidFill>
                <a:latin typeface="Public Sans" pitchFamily="34" charset="0"/>
                <a:ea typeface="Public Sans" pitchFamily="34" charset="-122"/>
                <a:cs typeface="Public Sans" pitchFamily="34" charset="-120"/>
              </a:rPr>
              <a:t>References</a:t>
            </a:r>
            <a:endParaRPr lang="en-US" sz="1400" dirty="0"/>
          </a:p>
        </p:txBody>
      </p:sp>
      <p:sp>
        <p:nvSpPr>
          <p:cNvPr id="17" name="Text 14"/>
          <p:cNvSpPr/>
          <p:nvPr/>
        </p:nvSpPr>
        <p:spPr>
          <a:xfrm>
            <a:off x="812800" y="6238241"/>
            <a:ext cx="8502650" cy="238760"/>
          </a:xfrm>
          <a:prstGeom prst="rect">
            <a:avLst/>
          </a:prstGeom>
          <a:noFill/>
          <a:ln/>
        </p:spPr>
        <p:txBody>
          <a:bodyPr wrap="square" lIns="0" tIns="0" rIns="0" bIns="0" rtlCol="0" anchor="t">
            <a:normAutofit/>
          </a:bodyPr>
          <a:lstStyle/>
          <a:p>
            <a:pPr marL="0" indent="0" algn="l">
              <a:lnSpc>
                <a:spcPts val="1680"/>
              </a:lnSpc>
              <a:spcAft>
                <a:spcPts val="300"/>
              </a:spcAft>
              <a:buNone/>
            </a:pPr>
            <a:r>
              <a:t>The Apollo University · Dept. of CSE (AI &amp; DS) · Mini Project Review III</a:t>
            </a:r>
            <a:endParaRPr lang="en-US" sz="1200" dirty="0"/>
          </a:p>
        </p:txBody>
      </p:sp>
      <p:sp>
        <p:nvSpPr>
          <p:cNvPr id="18" name="Text 15"/>
          <p:cNvSpPr/>
          <p:nvPr/>
        </p:nvSpPr>
        <p:spPr>
          <a:xfrm>
            <a:off x="10566400" y="6238241"/>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Public Sans" pitchFamily="34" charset="0"/>
                <a:ea typeface="Public Sans" pitchFamily="34" charset="-122"/>
                <a:cs typeface="Public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The Apollo University logo"/>
          <p:cNvPicPr>
            <a:picLocks noChangeAspect="1"/>
          </p:cNvPicPr>
          <p:nvPr/>
        </p:nvPicPr>
        <p:blipFill>
          <a:blip r:embed="rId3"/>
          <a:srcRect l="-12500" r="-12500"/>
          <a:stretch/>
        </p:blipFill>
        <p:spPr>
          <a:xfrm>
            <a:off x="10426700" y="609600"/>
            <a:ext cx="952500" cy="762000"/>
          </a:xfrm>
          <a:prstGeom prst="rect">
            <a:avLst/>
          </a:prstGeom>
        </p:spPr>
      </p:pic>
      <p:sp>
        <p:nvSpPr>
          <p:cNvPr id="3" name="Text 0"/>
          <p:cNvSpPr/>
          <p:nvPr/>
        </p:nvSpPr>
        <p:spPr>
          <a:xfrm>
            <a:off x="812800" y="812800"/>
            <a:ext cx="941832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Public Sans" pitchFamily="34" charset="0"/>
                <a:ea typeface="Public Sans" pitchFamily="34" charset="-122"/>
                <a:cs typeface="Public Sans" pitchFamily="34" charset="-120"/>
              </a:rPr>
              <a:t>REVIEW I · ABSTRACT</a:t>
            </a:r>
            <a:endParaRPr lang="en-US" sz="1200" dirty="0"/>
          </a:p>
        </p:txBody>
      </p:sp>
      <p:sp>
        <p:nvSpPr>
          <p:cNvPr id="4" name="Text 1"/>
          <p:cNvSpPr>
            <a:spLocks noGrp="1"/>
          </p:cNvSpPr>
          <p:nvPr>
            <p:ph type="title"/>
          </p:nvPr>
        </p:nvSpPr>
        <p:spPr>
          <a:xfrm>
            <a:off x="812800" y="1102361"/>
            <a:ext cx="941832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00000"/>
                </a:solidFill>
                <a:latin typeface="Libre Baskerville" pitchFamily="18" charset="0"/>
                <a:ea typeface="Libre Baskerville" pitchFamily="18" charset="-122"/>
                <a:cs typeface="Libre Baskerville" pitchFamily="18" charset="-120"/>
              </a:rPr>
              <a:t>Abstract</a:t>
            </a:r>
            <a:endParaRPr lang="en-US" sz="3000" dirty="0"/>
          </a:p>
        </p:txBody>
      </p:sp>
      <p:sp>
        <p:nvSpPr>
          <p:cNvPr id="5" name="Text 2"/>
          <p:cNvSpPr/>
          <p:nvPr/>
        </p:nvSpPr>
        <p:spPr>
          <a:xfrm>
            <a:off x="812800" y="1794511"/>
            <a:ext cx="10566400" cy="1239520"/>
          </a:xfrm>
          <a:prstGeom prst="roundRect">
            <a:avLst>
              <a:gd name="adj" fmla="val 10246"/>
            </a:avLst>
          </a:prstGeom>
          <a:solidFill>
            <a:srgbClr val="FFFFFF"/>
          </a:solidFill>
          <a:ln/>
        </p:spPr>
        <p:txBody>
          <a:bodyPr wrap="square" lIns="318403" tIns="277763" rIns="0" bIns="252363" rtlCol="0" anchor="t">
            <a:normAutofit/>
          </a:bodyPr>
          <a:lstStyle/>
          <a:p>
            <a:pPr marL="0" indent="0" algn="l">
              <a:lnSpc>
                <a:spcPts val="2400"/>
              </a:lnSpc>
              <a:spcAft>
                <a:spcPts val="300"/>
              </a:spcAft>
              <a:buNone/>
            </a:pPr>
            <a:r>
              <a:rPr sz="1300"/>
              <a:t>Brain tumor classification from MRI scans can support research into computer-assisted medical image analysis. This project develops a four-class image classifier for glioma, meningioma, pituitary tumor, and no-tumor images. The implementation compares a custom convolutional neural network (CNN) with an ImageNet-pretrained EfficientNet-B0 model. Images are resized to 224 × 224 RGB inputs, and performance is assessed using accuracy, macro F1-score, class-wise recall, and ROC-AUC. The supplied evaluation report records 87.50% test accuracy and 0.8699 macro F1 for EfficientNet-B0, compared with 68.75% accuracy for the custom CNN. These figures are preliminary because a data-quality audit identified cross-split near-duplicate candidates that require review. Grad-CAM visualizations and a Streamlit interface support demonstration; the system is an educational prototype, not a diagnostic tool.</a:t>
            </a:r>
            <a:endParaRPr lang="en-US" sz="1500" dirty="0"/>
          </a:p>
        </p:txBody>
      </p:sp>
      <p:sp>
        <p:nvSpPr>
          <p:cNvPr id="6" name="Shape 3"/>
          <p:cNvSpPr/>
          <p:nvPr/>
        </p:nvSpPr>
        <p:spPr>
          <a:xfrm>
            <a:off x="812800" y="1794511"/>
            <a:ext cx="10566400" cy="1239520"/>
          </a:xfrm>
          <a:custGeom>
            <a:avLst/>
            <a:gdLst/>
            <a:ahLst/>
            <a:cxnLst/>
            <a:rect l="l" t="t" r="r" b="b"/>
            <a:pathLst>
              <a:path w="10566400" h="1239520">
                <a:moveTo>
                  <a:pt x="127000" y="0"/>
                </a:moveTo>
                <a:lnTo>
                  <a:pt x="10439400" y="0"/>
                </a:lnTo>
                <a:arcTo wR="127000" hR="127000" stAng="16200000" swAng="5400000"/>
                <a:lnTo>
                  <a:pt x="10566400" y="1112520"/>
                </a:lnTo>
                <a:arcTo wR="127000" hR="127000" stAng="0" swAng="5400000"/>
                <a:lnTo>
                  <a:pt x="127000" y="1239520"/>
                </a:lnTo>
                <a:arcTo wR="127000" hR="127000" stAng="5400000" swAng="5400000"/>
                <a:lnTo>
                  <a:pt x="0" y="127000"/>
                </a:lnTo>
                <a:arcTo wR="127000" hR="127000" stAng="10800000" swAng="5400000"/>
                <a:close/>
                <a:moveTo>
                  <a:pt x="127000" y="12700"/>
                </a:moveTo>
                <a:arcTo wR="76200" hR="114300" stAng="16200000" swAng="-5400000"/>
                <a:lnTo>
                  <a:pt x="50800" y="1112520"/>
                </a:lnTo>
                <a:arcTo wR="76200" hR="114300" stAng="10800000" swAng="-5400000"/>
                <a:lnTo>
                  <a:pt x="10439400" y="1226820"/>
                </a:lnTo>
                <a:arcTo wR="114300" hR="114300" stAng="5400000" swAng="-5400000"/>
                <a:lnTo>
                  <a:pt x="10553700" y="127000"/>
                </a:lnTo>
                <a:arcTo wR="114300" hR="114300" stAng="0" swAng="-5400000"/>
                <a:close/>
              </a:path>
            </a:pathLst>
          </a:custGeom>
          <a:solidFill>
            <a:srgbClr val="000000"/>
          </a:solidFill>
          <a:ln/>
        </p:spPr>
        <p:txBody>
          <a:bodyPr/>
          <a:p/>
        </p:txBody>
      </p:sp>
      <p:sp>
        <p:nvSpPr>
          <p:cNvPr id="7" name="Text 4"/>
          <p:cNvSpPr/>
          <p:nvPr/>
        </p:nvSpPr>
        <p:spPr>
          <a:xfrm>
            <a:off x="812800" y="3288030"/>
            <a:ext cx="10883392" cy="274320"/>
          </a:xfrm>
          <a:prstGeom prst="rect">
            <a:avLst/>
          </a:prstGeom>
          <a:noFill/>
          <a:ln/>
        </p:spPr>
        <p:txBody>
          <a:bodyPr wrap="square" lIns="0" tIns="0" rIns="0" bIns="0" rtlCol="0" anchor="t">
            <a:normAutofit/>
          </a:bodyPr>
          <a:lstStyle/>
          <a:p>
            <a:pPr marL="0" indent="0" algn="l">
              <a:lnSpc>
                <a:spcPts val="1960"/>
              </a:lnSpc>
              <a:spcAft>
                <a:spcPts val="300"/>
              </a:spcAft>
              <a:buNone/>
            </a:pPr>
            <a:r>
              <a:rPr sz="1100"/>
              <a:t>Keywords: Brain MRI, CNN, EfficientNet-B0, Grad-CAM, Image Classification</a:t>
            </a:r>
            <a:endParaRPr lang="en-US" sz="1400" dirty="0"/>
          </a:p>
        </p:txBody>
      </p:sp>
      <p:sp>
        <p:nvSpPr>
          <p:cNvPr id="8" name="Text 5"/>
          <p:cNvSpPr/>
          <p:nvPr/>
        </p:nvSpPr>
        <p:spPr>
          <a:xfrm>
            <a:off x="812800" y="6238239"/>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Public Sans" pitchFamily="34" charset="0"/>
                <a:ea typeface="Public Sans" pitchFamily="34" charset="-122"/>
                <a:cs typeface="Public Sans" pitchFamily="34" charset="-120"/>
              </a:rPr>
              <a:t>The Apollo University · Dept. of CSE (AI &amp; DS) · Mini Project Review [I]</a:t>
            </a:r>
            <a:endParaRPr lang="en-US" sz="1200" dirty="0"/>
          </a:p>
        </p:txBody>
      </p:sp>
      <p:sp>
        <p:nvSpPr>
          <p:cNvPr id="9" name="Text 6"/>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Public Sans" pitchFamily="34" charset="0"/>
                <a:ea typeface="Public Sans" pitchFamily="34" charset="-122"/>
                <a:cs typeface="Public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The Apollo University logo"/>
          <p:cNvPicPr>
            <a:picLocks noChangeAspect="1"/>
          </p:cNvPicPr>
          <p:nvPr/>
        </p:nvPicPr>
        <p:blipFill>
          <a:blip r:embed="rId3"/>
          <a:srcRect l="-12500" r="-12500"/>
          <a:stretch/>
        </p:blipFill>
        <p:spPr>
          <a:xfrm>
            <a:off x="10426700" y="609600"/>
            <a:ext cx="952500" cy="762000"/>
          </a:xfrm>
          <a:prstGeom prst="rect">
            <a:avLst/>
          </a:prstGeom>
        </p:spPr>
      </p:pic>
      <p:sp>
        <p:nvSpPr>
          <p:cNvPr id="3" name="Text 0"/>
          <p:cNvSpPr/>
          <p:nvPr/>
        </p:nvSpPr>
        <p:spPr>
          <a:xfrm>
            <a:off x="812800" y="812800"/>
            <a:ext cx="941832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Public Sans" pitchFamily="34" charset="0"/>
                <a:ea typeface="Public Sans" pitchFamily="34" charset="-122"/>
                <a:cs typeface="Public Sans" pitchFamily="34" charset="-120"/>
              </a:rPr>
              <a:t>REVIEW I · INTRODUCTION</a:t>
            </a:r>
            <a:endParaRPr lang="en-US" sz="1200" dirty="0"/>
          </a:p>
        </p:txBody>
      </p:sp>
      <p:sp>
        <p:nvSpPr>
          <p:cNvPr id="4" name="Text 1"/>
          <p:cNvSpPr>
            <a:spLocks noGrp="1"/>
          </p:cNvSpPr>
          <p:nvPr>
            <p:ph type="title"/>
          </p:nvPr>
        </p:nvSpPr>
        <p:spPr>
          <a:xfrm>
            <a:off x="812800" y="1102361"/>
            <a:ext cx="941832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00000"/>
                </a:solidFill>
                <a:latin typeface="Libre Baskerville" pitchFamily="18" charset="0"/>
                <a:ea typeface="Libre Baskerville" pitchFamily="18" charset="-122"/>
                <a:cs typeface="Libre Baskerville" pitchFamily="18" charset="-120"/>
              </a:rPr>
              <a:t>Background and motivation</a:t>
            </a:r>
            <a:endParaRPr lang="en-US" sz="3000" dirty="0"/>
          </a:p>
        </p:txBody>
      </p:sp>
      <p:sp>
        <p:nvSpPr>
          <p:cNvPr id="5" name="Shape 2"/>
          <p:cNvSpPr/>
          <p:nvPr/>
        </p:nvSpPr>
        <p:spPr>
          <a:xfrm>
            <a:off x="819150" y="1800861"/>
            <a:ext cx="5143500" cy="4034790"/>
          </a:xfrm>
          <a:prstGeom prst="roundRect">
            <a:avLst>
              <a:gd name="adj" fmla="val 2990"/>
            </a:avLst>
          </a:prstGeom>
          <a:solidFill>
            <a:srgbClr val="FFFFFF"/>
          </a:solidFill>
          <a:ln w="12700">
            <a:solidFill>
              <a:srgbClr val="000000"/>
            </a:solidFill>
            <a:prstDash val="solid"/>
          </a:ln>
        </p:spPr>
        <p:txBody>
          <a:bodyPr/>
          <a:p/>
        </p:txBody>
      </p:sp>
      <p:sp>
        <p:nvSpPr>
          <p:cNvPr id="6" name="Text 3"/>
          <p:cNvSpPr/>
          <p:nvPr/>
        </p:nvSpPr>
        <p:spPr>
          <a:xfrm>
            <a:off x="1127760" y="2109471"/>
            <a:ext cx="466206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Public Sans" pitchFamily="34" charset="0"/>
                <a:ea typeface="Public Sans" pitchFamily="34" charset="-122"/>
                <a:cs typeface="Public Sans" pitchFamily="34" charset="-120"/>
              </a:rPr>
              <a:t>Background</a:t>
            </a:r>
            <a:endParaRPr lang="en-US" sz="1800" dirty="0"/>
          </a:p>
        </p:txBody>
      </p:sp>
      <p:sp>
        <p:nvSpPr>
          <p:cNvPr id="7" name="Text 4"/>
          <p:cNvSpPr/>
          <p:nvPr/>
        </p:nvSpPr>
        <p:spPr>
          <a:xfrm>
            <a:off x="1212342" y="2510789"/>
            <a:ext cx="4569866" cy="878840"/>
          </a:xfrm>
          <a:prstGeom prst="rect">
            <a:avLst/>
          </a:prstGeom>
          <a:noFill/>
          <a:ln/>
        </p:spPr>
        <p:txBody>
          <a:bodyPr wrap="square" lIns="0" tIns="0" rIns="0" bIns="0" rtlCol="0" anchor="t">
            <a:normAutofit/>
          </a:bodyPr>
          <a:lstStyle/>
          <a:p>
            <a:pPr marL="169418" indent="-169418" algn="l">
              <a:lnSpc>
                <a:spcPts val="2240"/>
              </a:lnSpc>
              <a:spcAft>
                <a:spcPts val="300"/>
              </a:spcAft>
              <a:buSzPct val="100000"/>
              <a:buChar char="•"/>
            </a:pPr>
            <a:r>
              <a:rPr sz="1300"/>
              <a:t>• Medical image analysis uses computer vision to study patterns in MRI scans.</a:t>
            </a:r>
            <a:endParaRPr lang="en-US" sz="1400" dirty="0"/>
          </a:p>
          <a:p>
            <a:pPr>
              <a:spcAft>
                <a:spcPts val="300"/>
              </a:spcAft>
            </a:pPr>
            <a:r>
              <a:rPr sz="1300"/>
              <a:t>• CNNs learn spatial features; transfer learning reuses features learned from large image datasets.</a:t>
            </a:r>
          </a:p>
          <a:p>
            <a:pPr>
              <a:spcAft>
                <a:spcPts val="300"/>
              </a:spcAft>
            </a:pPr>
            <a:r>
              <a:rPr sz="1300"/>
              <a:t>• This project evaluates four image categories using a supplied labelled MRI dataset.</a:t>
            </a:r>
          </a:p>
        </p:txBody>
      </p:sp>
      <p:sp>
        <p:nvSpPr>
          <p:cNvPr id="8" name="Shape 5"/>
          <p:cNvSpPr/>
          <p:nvPr/>
        </p:nvSpPr>
        <p:spPr>
          <a:xfrm>
            <a:off x="6229350" y="1800861"/>
            <a:ext cx="5143500" cy="4034790"/>
          </a:xfrm>
          <a:prstGeom prst="roundRect">
            <a:avLst>
              <a:gd name="adj" fmla="val 2990"/>
            </a:avLst>
          </a:prstGeom>
          <a:solidFill>
            <a:srgbClr val="FFFFFF"/>
          </a:solidFill>
          <a:ln w="12700">
            <a:solidFill>
              <a:srgbClr val="000000"/>
            </a:solidFill>
            <a:prstDash val="solid"/>
          </a:ln>
        </p:spPr>
        <p:txBody>
          <a:bodyPr/>
          <a:p/>
        </p:txBody>
      </p:sp>
      <p:sp>
        <p:nvSpPr>
          <p:cNvPr id="9" name="Text 6"/>
          <p:cNvSpPr/>
          <p:nvPr/>
        </p:nvSpPr>
        <p:spPr>
          <a:xfrm>
            <a:off x="6537960" y="2109471"/>
            <a:ext cx="466206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Public Sans" pitchFamily="34" charset="0"/>
                <a:ea typeface="Public Sans" pitchFamily="34" charset="-122"/>
                <a:cs typeface="Public Sans" pitchFamily="34" charset="-120"/>
              </a:rPr>
              <a:t>Motivation</a:t>
            </a:r>
            <a:endParaRPr lang="en-US" sz="1800" dirty="0"/>
          </a:p>
        </p:txBody>
      </p:sp>
      <p:sp>
        <p:nvSpPr>
          <p:cNvPr id="10" name="Text 7"/>
          <p:cNvSpPr/>
          <p:nvPr/>
        </p:nvSpPr>
        <p:spPr>
          <a:xfrm>
            <a:off x="6622542" y="2510789"/>
            <a:ext cx="4569866" cy="878840"/>
          </a:xfrm>
          <a:prstGeom prst="rect">
            <a:avLst/>
          </a:prstGeom>
          <a:noFill/>
          <a:ln/>
        </p:spPr>
        <p:txBody>
          <a:bodyPr wrap="square" lIns="0" tIns="0" rIns="0" bIns="0" rtlCol="0" anchor="t">
            <a:normAutofit/>
          </a:bodyPr>
          <a:lstStyle/>
          <a:p>
            <a:pPr marL="169418" indent="-169418" algn="l">
              <a:lnSpc>
                <a:spcPts val="2240"/>
              </a:lnSpc>
              <a:spcAft>
                <a:spcPts val="300"/>
              </a:spcAft>
              <a:buSzPct val="100000"/>
              <a:buChar char="•"/>
            </a:pPr>
            <a:r>
              <a:rPr sz="1300"/>
              <a:t>• Researchers and students exploring computer-assisted MRI analysis.</a:t>
            </a:r>
            <a:endParaRPr lang="en-US" sz="1400" dirty="0"/>
          </a:p>
          <a:p>
            <a:pPr>
              <a:spcAft>
                <a:spcPts val="300"/>
              </a:spcAft>
            </a:pPr>
            <a:r>
              <a:rPr sz="1300"/>
              <a:t>• Manual interpretation requires specialist expertise and time.</a:t>
            </a:r>
          </a:p>
          <a:p>
            <a:pPr>
              <a:spcAft>
                <a:spcPts val="300"/>
              </a:spcAft>
            </a:pPr>
            <a:r>
              <a:rPr sz="1300"/>
              <a:t>• A reproducible prototype enables model comparison and visual explanation for learning.</a:t>
            </a:r>
          </a:p>
        </p:txBody>
      </p:sp>
      <p:sp>
        <p:nvSpPr>
          <p:cNvPr id="11" name="Text 8"/>
          <p:cNvSpPr/>
          <p:nvPr/>
        </p:nvSpPr>
        <p:spPr>
          <a:xfrm>
            <a:off x="812800" y="6238239"/>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Public Sans" pitchFamily="34" charset="0"/>
                <a:ea typeface="Public Sans" pitchFamily="34" charset="-122"/>
                <a:cs typeface="Public Sans" pitchFamily="34" charset="-120"/>
              </a:rPr>
              <a:t>The Apollo University · Dept. of CSE (AI &amp; DS) · Mini Project Review [I]</a:t>
            </a:r>
            <a:endParaRPr lang="en-US" sz="1200" dirty="0"/>
          </a:p>
        </p:txBody>
      </p:sp>
      <p:sp>
        <p:nvSpPr>
          <p:cNvPr id="12" name="Text 9"/>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Public Sans" pitchFamily="34" charset="0"/>
                <a:ea typeface="Public Sans" pitchFamily="34" charset="-122"/>
                <a:cs typeface="Public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9150" y="1934211"/>
            <a:ext cx="3347323" cy="347980"/>
          </a:xfrm>
          <a:prstGeom prst="roundRect">
            <a:avLst>
              <a:gd name="adj" fmla="val 50000"/>
            </a:avLst>
          </a:prstGeom>
          <a:solidFill>
            <a:srgbClr val="FFFFFF"/>
          </a:solidFill>
          <a:ln w="12700">
            <a:solidFill>
              <a:srgbClr val="000000"/>
            </a:solidFill>
            <a:prstDash val="solid"/>
          </a:ln>
        </p:spPr>
        <p:txBody>
          <a:bodyPr wrap="none" lIns="0" tIns="0" rIns="0" bIns="0" rtlCol="0" anchor="ctr">
            <a:normAutofit/>
          </a:bodyPr>
          <a:lstStyle/>
          <a:p>
            <a:pPr marL="0" indent="0" algn="ctr">
              <a:lnSpc>
                <a:spcPts val="1680"/>
              </a:lnSpc>
              <a:buNone/>
            </a:pPr>
            <a:r>
              <a:rPr lang="en-US" sz="1200" b="1" kern="0" spc="150" dirty="0">
                <a:solidFill>
                  <a:srgbClr val="000000"/>
                </a:solidFill>
                <a:latin typeface="Public Sans" pitchFamily="34" charset="0"/>
                <a:ea typeface="Public Sans" pitchFamily="34" charset="-122"/>
                <a:cs typeface="Public Sans" pitchFamily="34" charset="-120"/>
              </a:rPr>
              <a:t>REVIEW I · PROBLEM STATEMENT</a:t>
            </a:r>
            <a:endParaRPr lang="en-US" sz="1200" dirty="0"/>
          </a:p>
        </p:txBody>
      </p:sp>
      <p:sp>
        <p:nvSpPr>
          <p:cNvPr id="3" name="Text 1"/>
          <p:cNvSpPr>
            <a:spLocks noGrp="1"/>
          </p:cNvSpPr>
          <p:nvPr>
            <p:ph type="title"/>
          </p:nvPr>
        </p:nvSpPr>
        <p:spPr>
          <a:xfrm>
            <a:off x="812800" y="2593339"/>
            <a:ext cx="10883392" cy="1568450"/>
          </a:xfrm>
          <a:prstGeom prst="rect">
            <a:avLst/>
          </a:prstGeom>
          <a:noFill/>
          <a:ln/>
        </p:spPr>
        <p:txBody>
          <a:bodyPr wrap="square" lIns="0" tIns="0" rIns="0" bIns="0" rtlCol="0" anchor="t">
            <a:normAutofit/>
          </a:bodyPr>
          <a:lstStyle/>
          <a:p>
            <a:pPr marL="0" indent="0" algn="l">
              <a:lnSpc>
                <a:spcPts val="4050"/>
              </a:lnSpc>
              <a:spcAft>
                <a:spcPts val="300"/>
              </a:spcAft>
              <a:buNone/>
            </a:pPr>
            <a:r>
              <a:rPr sz="2000"/>
              <a:t>“Build and evaluate a deep-learning system that classifies brain MRI images into glioma, meningioma, pituitary tumor, and no-tumor categories, while providing visual explanations and transparent evaluation.”</a:t>
            </a:r>
            <a:endParaRPr lang="en-US" sz="3000" dirty="0"/>
          </a:p>
        </p:txBody>
      </p:sp>
      <p:sp>
        <p:nvSpPr>
          <p:cNvPr id="4" name="Text 2"/>
          <p:cNvSpPr/>
          <p:nvPr/>
        </p:nvSpPr>
        <p:spPr>
          <a:xfrm>
            <a:off x="812800" y="4441189"/>
            <a:ext cx="10883392" cy="311150"/>
          </a:xfrm>
          <a:prstGeom prst="rect">
            <a:avLst/>
          </a:prstGeom>
          <a:noFill/>
          <a:ln/>
        </p:spPr>
        <p:txBody>
          <a:bodyPr wrap="square" lIns="0" tIns="0" rIns="0" bIns="0" rtlCol="0" anchor="t">
            <a:normAutofit/>
          </a:bodyPr>
          <a:lstStyle/>
          <a:p>
            <a:pPr marL="0" indent="0" algn="l">
              <a:lnSpc>
                <a:spcPts val="2250"/>
              </a:lnSpc>
              <a:spcAft>
                <a:spcPts val="300"/>
              </a:spcAft>
              <a:buNone/>
            </a:pPr>
            <a:r>
              <a:rPr sz="1200"/>
              <a:t>Domain: Artificial Intelligence &amp; Medical Image Analysis · Type: Educational application / prototype</a:t>
            </a:r>
            <a:endParaRPr lang="en-US" sz="1500" dirty="0"/>
          </a:p>
        </p:txBody>
      </p:sp>
      <p:sp>
        <p:nvSpPr>
          <p:cNvPr id="5" name="Text 3"/>
          <p:cNvSpPr/>
          <p:nvPr/>
        </p:nvSpPr>
        <p:spPr>
          <a:xfrm>
            <a:off x="812800" y="6238239"/>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Public Sans" pitchFamily="34" charset="0"/>
                <a:ea typeface="Public Sans" pitchFamily="34" charset="-122"/>
                <a:cs typeface="Public Sans" pitchFamily="34" charset="-120"/>
              </a:rPr>
              <a:t>The Apollo University · Dept. of CSE (AI &amp; DS) · Mini Project Review [I]</a:t>
            </a:r>
            <a:endParaRPr lang="en-US" sz="1200" dirty="0"/>
          </a:p>
        </p:txBody>
      </p:sp>
      <p:sp>
        <p:nvSpPr>
          <p:cNvPr id="6" name="Text 4"/>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Public Sans" pitchFamily="34" charset="0"/>
                <a:ea typeface="Public Sans" pitchFamily="34" charset="-122"/>
                <a:cs typeface="Public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The Apollo University logo"/>
          <p:cNvPicPr>
            <a:picLocks noChangeAspect="1"/>
          </p:cNvPicPr>
          <p:nvPr/>
        </p:nvPicPr>
        <p:blipFill>
          <a:blip r:embed="rId3"/>
          <a:srcRect l="-12500" r="-12500"/>
          <a:stretch/>
        </p:blipFill>
        <p:spPr>
          <a:xfrm>
            <a:off x="10426700" y="609600"/>
            <a:ext cx="952500" cy="762000"/>
          </a:xfrm>
          <a:prstGeom prst="rect">
            <a:avLst/>
          </a:prstGeom>
        </p:spPr>
      </p:pic>
      <p:sp>
        <p:nvSpPr>
          <p:cNvPr id="3" name="Text 0"/>
          <p:cNvSpPr/>
          <p:nvPr/>
        </p:nvSpPr>
        <p:spPr>
          <a:xfrm>
            <a:off x="812800" y="812800"/>
            <a:ext cx="941832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Public Sans" pitchFamily="34" charset="0"/>
                <a:ea typeface="Public Sans" pitchFamily="34" charset="-122"/>
                <a:cs typeface="Public Sans" pitchFamily="34" charset="-120"/>
              </a:rPr>
              <a:t>REVIEW I · OBJECTIVES AND SCOPE</a:t>
            </a:r>
            <a:endParaRPr lang="en-US" sz="1200" dirty="0"/>
          </a:p>
        </p:txBody>
      </p:sp>
      <p:sp>
        <p:nvSpPr>
          <p:cNvPr id="4" name="Text 1"/>
          <p:cNvSpPr>
            <a:spLocks noGrp="1"/>
          </p:cNvSpPr>
          <p:nvPr>
            <p:ph type="title"/>
          </p:nvPr>
        </p:nvSpPr>
        <p:spPr>
          <a:xfrm>
            <a:off x="812800" y="1102361"/>
            <a:ext cx="941832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00000"/>
                </a:solidFill>
                <a:latin typeface="Libre Baskerville" pitchFamily="18" charset="0"/>
                <a:ea typeface="Libre Baskerville" pitchFamily="18" charset="-122"/>
                <a:cs typeface="Libre Baskerville" pitchFamily="18" charset="-120"/>
              </a:rPr>
              <a:t>Objectives and scope</a:t>
            </a:r>
            <a:endParaRPr lang="en-US" sz="3000" dirty="0"/>
          </a:p>
        </p:txBody>
      </p:sp>
      <p:sp>
        <p:nvSpPr>
          <p:cNvPr id="5" name="Text 2"/>
          <p:cNvSpPr/>
          <p:nvPr/>
        </p:nvSpPr>
        <p:spPr>
          <a:xfrm>
            <a:off x="812800" y="1845311"/>
            <a:ext cx="598374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Public Sans" pitchFamily="34" charset="0"/>
                <a:ea typeface="Public Sans" pitchFamily="34" charset="-122"/>
                <a:cs typeface="Public Sans" pitchFamily="34" charset="-120"/>
              </a:rPr>
              <a:t>Objectives</a:t>
            </a:r>
            <a:endParaRPr lang="en-US" sz="1800" dirty="0"/>
          </a:p>
        </p:txBody>
      </p:sp>
      <p:sp>
        <p:nvSpPr>
          <p:cNvPr id="6" name="Text 3"/>
          <p:cNvSpPr/>
          <p:nvPr/>
        </p:nvSpPr>
        <p:spPr>
          <a:xfrm>
            <a:off x="829945" y="2246632"/>
            <a:ext cx="5958975" cy="1320800"/>
          </a:xfrm>
          <a:prstGeom prst="rect">
            <a:avLst/>
          </a:prstGeom>
          <a:noFill/>
          <a:ln/>
        </p:spPr>
        <p:txBody>
          <a:bodyPr wrap="square" lIns="0" tIns="0" rIns="0" bIns="0" rtlCol="0" anchor="t">
            <a:normAutofit/>
          </a:bodyPr>
          <a:lstStyle/>
          <a:p>
            <a:pPr marL="236855" indent="-236855" algn="l">
              <a:lnSpc>
                <a:spcPts val="2550"/>
              </a:lnSpc>
              <a:spcAft>
                <a:spcPts val="300"/>
              </a:spcAft>
              <a:buSzPct val="100000"/>
              <a:buFontTx/>
              <a:buAutoNum type="arabicPeriod"/>
            </a:pPr>
            <a:r>
              <a:rPr sz="1400"/>
              <a:t>1. Analyse and preprocess labelled brain MRI images.</a:t>
            </a:r>
            <a:endParaRPr lang="en-US" sz="1500" dirty="0"/>
          </a:p>
          <a:p>
            <a:pPr>
              <a:spcAft>
                <a:spcPts val="300"/>
              </a:spcAft>
            </a:pPr>
            <a:r>
              <a:rPr sz="1400"/>
              <a:t>2. Train a custom CNN and use EfficientNet-B0 transfer learning.</a:t>
            </a:r>
          </a:p>
          <a:p>
            <a:pPr>
              <a:spcAft>
                <a:spcPts val="300"/>
              </a:spcAft>
            </a:pPr>
            <a:r>
              <a:rPr sz="1400"/>
              <a:t>3. Provide image predictions and Grad-CAM visualizations through a Streamlit interface.</a:t>
            </a:r>
          </a:p>
          <a:p>
            <a:pPr>
              <a:spcAft>
                <a:spcPts val="300"/>
              </a:spcAft>
            </a:pPr>
            <a:r>
              <a:rPr sz="1400"/>
              <a:t>4. Compare models using accuracy, macro F1, class-wise recall, and ROC-AUC.</a:t>
            </a:r>
          </a:p>
        </p:txBody>
      </p:sp>
      <p:sp>
        <p:nvSpPr>
          <p:cNvPr id="7" name="Shape 4"/>
          <p:cNvSpPr/>
          <p:nvPr/>
        </p:nvSpPr>
        <p:spPr>
          <a:xfrm>
            <a:off x="6882606" y="1800861"/>
            <a:ext cx="4490244" cy="4034790"/>
          </a:xfrm>
          <a:prstGeom prst="roundRect">
            <a:avLst>
              <a:gd name="adj" fmla="val 2990"/>
            </a:avLst>
          </a:prstGeom>
          <a:solidFill>
            <a:srgbClr val="FFFFFF"/>
          </a:solidFill>
          <a:ln w="12700">
            <a:solidFill>
              <a:srgbClr val="000000"/>
            </a:solidFill>
            <a:prstDash val="solid"/>
          </a:ln>
        </p:spPr>
        <p:txBody>
          <a:bodyPr/>
          <a:p/>
        </p:txBody>
      </p:sp>
      <p:sp>
        <p:nvSpPr>
          <p:cNvPr id="8" name="Text 5"/>
          <p:cNvSpPr/>
          <p:nvPr/>
        </p:nvSpPr>
        <p:spPr>
          <a:xfrm>
            <a:off x="7191216" y="2109471"/>
            <a:ext cx="398921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Public Sans" pitchFamily="34" charset="0"/>
                <a:ea typeface="Public Sans" pitchFamily="34" charset="-122"/>
                <a:cs typeface="Public Sans" pitchFamily="34" charset="-120"/>
              </a:rPr>
              <a:t>Scope</a:t>
            </a:r>
            <a:endParaRPr lang="en-US" sz="1800" dirty="0"/>
          </a:p>
        </p:txBody>
      </p:sp>
      <p:sp>
        <p:nvSpPr>
          <p:cNvPr id="9" name="Text 6"/>
          <p:cNvSpPr/>
          <p:nvPr/>
        </p:nvSpPr>
        <p:spPr>
          <a:xfrm>
            <a:off x="7191216" y="2510789"/>
            <a:ext cx="3989214" cy="292100"/>
          </a:xfrm>
          <a:prstGeom prst="rect">
            <a:avLst/>
          </a:prstGeom>
          <a:noFill/>
          <a:ln/>
        </p:spPr>
        <p:txBody>
          <a:bodyPr wrap="square" lIns="0" tIns="0" rIns="0" bIns="0" rtlCol="0" anchor="t">
            <a:normAutofit/>
          </a:bodyPr>
          <a:lstStyle/>
          <a:p>
            <a:pPr marL="0" indent="0" algn="l">
              <a:lnSpc>
                <a:spcPts val="2100"/>
              </a:lnSpc>
              <a:spcAft>
                <a:spcPts val="300"/>
              </a:spcAft>
              <a:buNone/>
            </a:pPr>
            <a:r>
              <a:t>In scope: Four-class 2D MRI classification, model comparison, Grad-CAM, demo UI.</a:t>
            </a:r>
            <a:endParaRPr lang="en-US" sz="1400" dirty="0"/>
          </a:p>
        </p:txBody>
      </p:sp>
      <p:sp>
        <p:nvSpPr>
          <p:cNvPr id="10" name="Text 7"/>
          <p:cNvSpPr/>
          <p:nvPr/>
        </p:nvSpPr>
        <p:spPr>
          <a:xfrm>
            <a:off x="7191216" y="2904489"/>
            <a:ext cx="3989214" cy="292100"/>
          </a:xfrm>
          <a:prstGeom prst="rect">
            <a:avLst/>
          </a:prstGeom>
          <a:noFill/>
          <a:ln/>
        </p:spPr>
        <p:txBody>
          <a:bodyPr wrap="square" lIns="0" tIns="0" rIns="0" bIns="0" rtlCol="0" anchor="t">
            <a:normAutofit/>
          </a:bodyPr>
          <a:lstStyle/>
          <a:p>
            <a:pPr marL="0" indent="0" algn="l">
              <a:lnSpc>
                <a:spcPts val="2100"/>
              </a:lnSpc>
              <a:spcAft>
                <a:spcPts val="300"/>
              </a:spcAft>
              <a:buNone/>
            </a:pPr>
            <a:r>
              <a:t>Out of scope: Clinical diagnosis, tumour segmentation, treatment recommendations.</a:t>
            </a:r>
            <a:endParaRPr lang="en-US" sz="1400" dirty="0"/>
          </a:p>
        </p:txBody>
      </p:sp>
      <p:sp>
        <p:nvSpPr>
          <p:cNvPr id="11" name="Text 8"/>
          <p:cNvSpPr/>
          <p:nvPr/>
        </p:nvSpPr>
        <p:spPr>
          <a:xfrm>
            <a:off x="7191216" y="3298189"/>
            <a:ext cx="3989214" cy="292100"/>
          </a:xfrm>
          <a:prstGeom prst="rect">
            <a:avLst/>
          </a:prstGeom>
          <a:noFill/>
          <a:ln/>
        </p:spPr>
        <p:txBody>
          <a:bodyPr wrap="square" lIns="0" tIns="0" rIns="0" bIns="0" rtlCol="0" anchor="t">
            <a:normAutofit/>
          </a:bodyPr>
          <a:lstStyle/>
          <a:p>
            <a:pPr marL="0" indent="0" algn="l">
              <a:lnSpc>
                <a:spcPts val="2100"/>
              </a:lnSpc>
              <a:spcAft>
                <a:spcPts val="300"/>
              </a:spcAft>
              <a:buNone/>
            </a:pPr>
            <a:r>
              <a:t>Assumptions: Dataset labels are correct; performance is limited to the supplied dataset.</a:t>
            </a:r>
            <a:endParaRPr lang="en-US" sz="1400" dirty="0"/>
          </a:p>
        </p:txBody>
      </p:sp>
      <p:sp>
        <p:nvSpPr>
          <p:cNvPr id="12" name="Text 9"/>
          <p:cNvSpPr/>
          <p:nvPr/>
        </p:nvSpPr>
        <p:spPr>
          <a:xfrm>
            <a:off x="812800" y="6238239"/>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Public Sans" pitchFamily="34" charset="0"/>
                <a:ea typeface="Public Sans" pitchFamily="34" charset="-122"/>
                <a:cs typeface="Public Sans" pitchFamily="34" charset="-120"/>
              </a:rPr>
              <a:t>The Apollo University · Dept. of CSE (AI &amp; DS) · Mini Project Review [I]</a:t>
            </a:r>
            <a:endParaRPr lang="en-US" sz="1200" dirty="0"/>
          </a:p>
        </p:txBody>
      </p:sp>
      <p:sp>
        <p:nvSpPr>
          <p:cNvPr id="13" name="Text 10"/>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Public Sans" pitchFamily="34" charset="0"/>
                <a:ea typeface="Public Sans" pitchFamily="34" charset="-122"/>
                <a:cs typeface="Public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The Apollo University logo"/>
          <p:cNvPicPr>
            <a:picLocks noChangeAspect="1"/>
          </p:cNvPicPr>
          <p:nvPr/>
        </p:nvPicPr>
        <p:blipFill>
          <a:blip r:embed="rId3"/>
          <a:srcRect l="-12500" r="-12500"/>
          <a:stretch/>
        </p:blipFill>
        <p:spPr>
          <a:xfrm>
            <a:off x="10426700" y="609600"/>
            <a:ext cx="952500" cy="762000"/>
          </a:xfrm>
          <a:prstGeom prst="rect">
            <a:avLst/>
          </a:prstGeom>
        </p:spPr>
      </p:pic>
      <p:sp>
        <p:nvSpPr>
          <p:cNvPr id="3" name="Text 0"/>
          <p:cNvSpPr/>
          <p:nvPr/>
        </p:nvSpPr>
        <p:spPr>
          <a:xfrm>
            <a:off x="812800" y="812800"/>
            <a:ext cx="941832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Public Sans" pitchFamily="34" charset="0"/>
                <a:ea typeface="Public Sans" pitchFamily="34" charset="-122"/>
                <a:cs typeface="Public Sans" pitchFamily="34" charset="-120"/>
              </a:rPr>
              <a:t>REVIEW I · LITERATURE SURVEY</a:t>
            </a:r>
            <a:endParaRPr lang="en-US" sz="1200" dirty="0"/>
          </a:p>
        </p:txBody>
      </p:sp>
      <p:sp>
        <p:nvSpPr>
          <p:cNvPr id="4" name="Text 1"/>
          <p:cNvSpPr>
            <a:spLocks noGrp="1"/>
          </p:cNvSpPr>
          <p:nvPr>
            <p:ph type="title"/>
          </p:nvPr>
        </p:nvSpPr>
        <p:spPr>
          <a:xfrm>
            <a:off x="812800" y="1102361"/>
            <a:ext cx="941832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00000"/>
                </a:solidFill>
                <a:latin typeface="Libre Baskerville" pitchFamily="18" charset="0"/>
                <a:ea typeface="Libre Baskerville" pitchFamily="18" charset="-122"/>
                <a:cs typeface="Libre Baskerville" pitchFamily="18" charset="-120"/>
              </a:rPr>
              <a:t>Summary of related work</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779271"/>
          <a:ext cx="10556239" cy="1981200"/>
        </p:xfrm>
        <a:graphic>
          <a:graphicData uri="http://schemas.openxmlformats.org/drawingml/2006/table">
            <a:tbl>
              <a:tblPr/>
              <a:tblGrid>
                <a:gridCol w="633374">
                  <a:extLst>
                    <a:ext uri="{9D8B030D-6E8A-4147-A177-3AD203B41FA5}">
                      <a16:colId xmlns:a16="http://schemas.microsoft.com/office/drawing/2014/main" val="20000"/>
                    </a:ext>
                  </a:extLst>
                </a:gridCol>
                <a:gridCol w="1900123">
                  <a:extLst>
                    <a:ext uri="{9D8B030D-6E8A-4147-A177-3AD203B41FA5}">
                      <a16:colId xmlns:a16="http://schemas.microsoft.com/office/drawing/2014/main" val="20001"/>
                    </a:ext>
                  </a:extLst>
                </a:gridCol>
                <a:gridCol w="2111248">
                  <a:extLst>
                    <a:ext uri="{9D8B030D-6E8A-4147-A177-3AD203B41FA5}">
                      <a16:colId xmlns:a16="http://schemas.microsoft.com/office/drawing/2014/main" val="20002"/>
                    </a:ext>
                  </a:extLst>
                </a:gridCol>
                <a:gridCol w="1477874">
                  <a:extLst>
                    <a:ext uri="{9D8B030D-6E8A-4147-A177-3AD203B41FA5}">
                      <a16:colId xmlns:a16="http://schemas.microsoft.com/office/drawing/2014/main" val="20003"/>
                    </a:ext>
                  </a:extLst>
                </a:gridCol>
                <a:gridCol w="2216810">
                  <a:extLst>
                    <a:ext uri="{9D8B030D-6E8A-4147-A177-3AD203B41FA5}">
                      <a16:colId xmlns:a16="http://schemas.microsoft.com/office/drawing/2014/main" val="20004"/>
                    </a:ext>
                  </a:extLst>
                </a:gridCol>
                <a:gridCol w="2216810">
                  <a:extLst>
                    <a:ext uri="{9D8B030D-6E8A-4147-A177-3AD203B41FA5}">
                      <a16:colId xmlns:a16="http://schemas.microsoft.com/office/drawing/2014/main" val="20005"/>
                    </a:ext>
                  </a:extLst>
                </a:gridCol>
              </a:tblGrid>
              <a:tr h="330200">
                <a:tc>
                  <a:txBody>
                    <a:bodyPr/>
                    <a:lstStyle/>
                    <a:p>
                      <a:r>
                        <a:rPr sz="800"/>
                        <a:t>No.</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rPr sz="800"/>
                        <a:t>Author(s), Year</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rPr sz="800"/>
                        <a:t>Technique / Method</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rPr sz="800"/>
                        <a:t>Dataset</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rPr sz="800"/>
                        <a:t>Findings</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rPr sz="800"/>
                        <a:t>Limitations</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30200">
                <a:tc>
                  <a:txBody>
                    <a:bodyPr/>
                    <a:lstStyle/>
                    <a:p>
                      <a:r>
                        <a:rPr sz="800"/>
                        <a:t>1</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Badža &amp; Barjaktarović (2020) [5]</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Custom CNN Architecture</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Figshare (3,064 MRI)</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96.56% 10-fold CV on 3 tumor classes</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High compute; lacks 4th 'no tumor' class</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200">
                <a:tc>
                  <a:txBody>
                    <a:bodyPr/>
                    <a:lstStyle/>
                    <a:p>
                      <a:r>
                        <a:rPr sz="800"/>
                        <a:t>2</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Deepak &amp; Ameer (2019) [6]</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Transfer Learning (GoogLeNet + SVM)</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Figshare (3,064 MRI)</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98.00% classification accuracy</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Multi-stage pipeline; lacks explainability</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200">
                <a:tc>
                  <a:txBody>
                    <a:bodyPr/>
                    <a:lstStyle/>
                    <a:p>
                      <a:r>
                        <a:rPr sz="800"/>
                        <a:t>3</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Swati et al. (2019) [7]</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Fine-Tuned VGG-19</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Figshare (3,064 MRI)</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94.82% 5-fold CV accuracy</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Heavy model (143M params); prone to overfitting</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200">
                <a:tc>
                  <a:txBody>
                    <a:bodyPr/>
                    <a:lstStyle/>
                    <a:p>
                      <a:r>
                        <a:rPr sz="800"/>
                        <a:t>4</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Selvaraju et al. (2017) [2]</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Grad-CAM Saliency</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ImageNet / PASCAL</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Visualizes class-discriminative regions</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Coarse localization; does not delineate margins</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0200">
                <a:tc>
                  <a:txBody>
                    <a:bodyPr/>
                    <a:lstStyle/>
                    <a:p>
                      <a:r>
                        <a:rPr sz="800"/>
                        <a:t>5</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Tan &amp; Le (2019) [1]</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EfficientNet Compound Scaling</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ImageNet (1.4M images)</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Superior accuracy with 8.4x fewer params</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Domain gap requires calibrated medical transfer</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2"/>
          <p:cNvSpPr/>
          <p:nvPr/>
        </p:nvSpPr>
        <p:spPr>
          <a:xfrm>
            <a:off x="812800" y="3989071"/>
            <a:ext cx="10883392" cy="238760"/>
          </a:xfrm>
          <a:prstGeom prst="rect">
            <a:avLst/>
          </a:prstGeom>
          <a:noFill/>
          <a:ln/>
        </p:spPr>
        <p:txBody>
          <a:bodyPr wrap="square" lIns="0" tIns="0" rIns="0" bIns="0" rtlCol="0" anchor="t">
            <a:normAutofit/>
          </a:bodyPr>
          <a:lstStyle/>
          <a:p>
            <a:pPr marL="0" indent="0" algn="l">
              <a:lnSpc>
                <a:spcPts val="1680"/>
              </a:lnSpc>
              <a:spcAft>
                <a:spcPts val="300"/>
              </a:spcAft>
              <a:buNone/>
            </a:pPr>
            <a:r>
              <a:rPr sz="900"/>
              <a:t>Selected foundational methods; extend with recent MRI-specific studies in the written report.</a:t>
            </a:r>
            <a:endParaRPr lang="en-US" sz="1200" dirty="0"/>
          </a:p>
        </p:txBody>
      </p:sp>
      <p:sp>
        <p:nvSpPr>
          <p:cNvPr id="7" name="Text 3"/>
          <p:cNvSpPr/>
          <p:nvPr/>
        </p:nvSpPr>
        <p:spPr>
          <a:xfrm>
            <a:off x="812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Public Sans" pitchFamily="34" charset="0"/>
                <a:ea typeface="Public Sans" pitchFamily="34" charset="-122"/>
                <a:cs typeface="Public Sans" pitchFamily="34" charset="-120"/>
              </a:rPr>
              <a:t>The Apollo University · Dept. of CSE (AI &amp; DS) · Mini Project Review [I]</a:t>
            </a:r>
            <a:endParaRPr lang="en-US" sz="1200" dirty="0"/>
          </a:p>
        </p:txBody>
      </p:sp>
      <p:sp>
        <p:nvSpPr>
          <p:cNvPr id="8" name="Text 4"/>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Public Sans" pitchFamily="34" charset="0"/>
                <a:ea typeface="Public Sans" pitchFamily="34" charset="-122"/>
                <a:cs typeface="Public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The Apollo University logo"/>
          <p:cNvPicPr>
            <a:picLocks noChangeAspect="1"/>
          </p:cNvPicPr>
          <p:nvPr/>
        </p:nvPicPr>
        <p:blipFill>
          <a:blip r:embed="rId3"/>
          <a:srcRect l="-12500" r="-12500"/>
          <a:stretch/>
        </p:blipFill>
        <p:spPr>
          <a:xfrm>
            <a:off x="10426700" y="609600"/>
            <a:ext cx="952500" cy="762000"/>
          </a:xfrm>
          <a:prstGeom prst="rect">
            <a:avLst/>
          </a:prstGeom>
        </p:spPr>
      </p:pic>
      <p:sp>
        <p:nvSpPr>
          <p:cNvPr id="3" name="Text 0"/>
          <p:cNvSpPr/>
          <p:nvPr/>
        </p:nvSpPr>
        <p:spPr>
          <a:xfrm>
            <a:off x="812800" y="812800"/>
            <a:ext cx="941832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Public Sans" pitchFamily="34" charset="0"/>
                <a:ea typeface="Public Sans" pitchFamily="34" charset="-122"/>
                <a:cs typeface="Public Sans" pitchFamily="34" charset="-120"/>
              </a:rPr>
              <a:t>REVIEW I · RESEARCH GAP</a:t>
            </a:r>
            <a:endParaRPr lang="en-US" sz="1200" dirty="0"/>
          </a:p>
        </p:txBody>
      </p:sp>
      <p:sp>
        <p:nvSpPr>
          <p:cNvPr id="4" name="Text 1"/>
          <p:cNvSpPr>
            <a:spLocks noGrp="1"/>
          </p:cNvSpPr>
          <p:nvPr>
            <p:ph type="title"/>
          </p:nvPr>
        </p:nvSpPr>
        <p:spPr>
          <a:xfrm>
            <a:off x="812800" y="1102364"/>
            <a:ext cx="9418320" cy="90170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00000"/>
                </a:solidFill>
                <a:latin typeface="Libre Baskerville" pitchFamily="18" charset="0"/>
                <a:ea typeface="Libre Baskerville" pitchFamily="18" charset="-122"/>
                <a:cs typeface="Libre Baskerville" pitchFamily="18" charset="-120"/>
              </a:rPr>
              <a:t>From existing systems to the proposed system</a:t>
            </a:r>
            <a:endParaRPr lang="en-US" sz="3000" dirty="0"/>
          </a:p>
        </p:txBody>
      </p:sp>
      <p:sp>
        <p:nvSpPr>
          <p:cNvPr id="5" name="Shape 2"/>
          <p:cNvSpPr/>
          <p:nvPr/>
        </p:nvSpPr>
        <p:spPr>
          <a:xfrm>
            <a:off x="812800" y="3074671"/>
            <a:ext cx="4699000" cy="1925320"/>
          </a:xfrm>
          <a:prstGeom prst="roundRect">
            <a:avLst>
              <a:gd name="adj" fmla="val 6596"/>
            </a:avLst>
          </a:prstGeom>
          <a:solidFill>
            <a:srgbClr val="FFFFFF"/>
          </a:solidFill>
          <a:ln/>
        </p:spPr>
        <p:txBody>
          <a:bodyPr/>
          <a:p/>
        </p:txBody>
      </p:sp>
      <p:sp>
        <p:nvSpPr>
          <p:cNvPr id="6" name="Shape 3"/>
          <p:cNvSpPr/>
          <p:nvPr/>
        </p:nvSpPr>
        <p:spPr>
          <a:xfrm>
            <a:off x="812800" y="3074671"/>
            <a:ext cx="4699000" cy="1925320"/>
          </a:xfrm>
          <a:custGeom>
            <a:avLst/>
            <a:gdLst/>
            <a:ahLst/>
            <a:cxnLst/>
            <a:rect l="l" t="t" r="r" b="b"/>
            <a:pathLst>
              <a:path w="4699000" h="1925320">
                <a:moveTo>
                  <a:pt x="127000" y="0"/>
                </a:moveTo>
                <a:lnTo>
                  <a:pt x="4572000" y="0"/>
                </a:lnTo>
                <a:arcTo wR="127000" hR="127000" stAng="16200000" swAng="5400000"/>
                <a:lnTo>
                  <a:pt x="4699000" y="1798320"/>
                </a:lnTo>
                <a:arcTo wR="127000" hR="127000" stAng="0" swAng="5400000"/>
                <a:lnTo>
                  <a:pt x="127000" y="1925320"/>
                </a:lnTo>
                <a:arcTo wR="127000" hR="127000" stAng="5400000" swAng="5400000"/>
                <a:lnTo>
                  <a:pt x="0" y="127000"/>
                </a:lnTo>
                <a:arcTo wR="127000" hR="127000" stAng="10800000" swAng="5400000"/>
                <a:close/>
                <a:moveTo>
                  <a:pt x="127000" y="50800"/>
                </a:moveTo>
                <a:arcTo wR="114300" hR="76200" stAng="16200000" swAng="-5400000"/>
                <a:lnTo>
                  <a:pt x="12700" y="1798320"/>
                </a:lnTo>
                <a:arcTo wR="114300" hR="114300" stAng="10800000" swAng="-5400000"/>
                <a:lnTo>
                  <a:pt x="4572000" y="1912620"/>
                </a:lnTo>
                <a:arcTo wR="114300" hR="114300" stAng="5400000" swAng="-5400000"/>
                <a:lnTo>
                  <a:pt x="4686300" y="127000"/>
                </a:lnTo>
                <a:arcTo wR="114300" hR="76200" stAng="0" swAng="-5400000"/>
                <a:close/>
              </a:path>
            </a:pathLst>
          </a:custGeom>
          <a:solidFill>
            <a:srgbClr val="000000"/>
          </a:solidFill>
          <a:ln/>
        </p:spPr>
        <p:txBody>
          <a:bodyPr/>
          <a:p/>
        </p:txBody>
      </p:sp>
      <p:sp>
        <p:nvSpPr>
          <p:cNvPr id="7" name="Text 4"/>
          <p:cNvSpPr/>
          <p:nvPr/>
        </p:nvSpPr>
        <p:spPr>
          <a:xfrm>
            <a:off x="1127760" y="3430271"/>
            <a:ext cx="419115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Public Sans" pitchFamily="34" charset="0"/>
                <a:ea typeface="Public Sans" pitchFamily="34" charset="-122"/>
                <a:cs typeface="Public Sans" pitchFamily="34" charset="-120"/>
              </a:rPr>
              <a:t>Limitations of existing systems</a:t>
            </a:r>
            <a:endParaRPr lang="en-US" sz="1800" dirty="0"/>
          </a:p>
        </p:txBody>
      </p:sp>
      <p:sp>
        <p:nvSpPr>
          <p:cNvPr id="8" name="Text 5"/>
          <p:cNvSpPr/>
          <p:nvPr/>
        </p:nvSpPr>
        <p:spPr>
          <a:xfrm>
            <a:off x="1212342" y="3831592"/>
            <a:ext cx="4098950" cy="878840"/>
          </a:xfrm>
          <a:prstGeom prst="rect">
            <a:avLst/>
          </a:prstGeom>
          <a:noFill/>
          <a:ln/>
        </p:spPr>
        <p:txBody>
          <a:bodyPr wrap="square" lIns="0" tIns="0" rIns="0" bIns="0" rtlCol="0" anchor="t">
            <a:normAutofit/>
          </a:bodyPr>
          <a:lstStyle/>
          <a:p>
            <a:pPr marL="169418" indent="-169418" algn="l">
              <a:lnSpc>
                <a:spcPts val="2240"/>
              </a:lnSpc>
              <a:spcAft>
                <a:spcPts val="300"/>
              </a:spcAft>
              <a:buSzPct val="100000"/>
              <a:buChar char="•"/>
            </a:pPr>
            <a:r>
              <a:rPr sz="1300"/>
              <a:t>• A single architecture does not show the value of transfer learning.</a:t>
            </a:r>
            <a:endParaRPr lang="en-US" sz="1400" dirty="0"/>
          </a:p>
          <a:p>
            <a:pPr>
              <a:spcAft>
                <a:spcPts val="300"/>
              </a:spcAft>
            </a:pPr>
            <a:r>
              <a:rPr sz="1300"/>
              <a:t>• Accuracy alone hides class-wise errors and weak categories.</a:t>
            </a:r>
          </a:p>
          <a:p>
            <a:pPr>
              <a:spcAft>
                <a:spcPts val="300"/>
              </a:spcAft>
            </a:pPr>
            <a:r>
              <a:rPr sz="1300"/>
              <a:t>• Predictions may be difficult to interpret without visual evidence.</a:t>
            </a:r>
          </a:p>
        </p:txBody>
      </p:sp>
      <p:pic>
        <p:nvPicPr>
          <p:cNvPr id="9" name="Image 1" descr="arrow-right"/>
          <p:cNvPicPr>
            <a:picLocks noChangeAspect="1"/>
          </p:cNvPicPr>
          <p:nvPr/>
        </p:nvPicPr>
        <p:blipFill>
          <a:blip r:embed="rId4"/>
          <a:srcRect/>
          <a:stretch/>
        </p:blipFill>
        <p:spPr>
          <a:xfrm>
            <a:off x="5715000" y="3808729"/>
            <a:ext cx="762000" cy="457200"/>
          </a:xfrm>
          <a:prstGeom prst="rect">
            <a:avLst/>
          </a:prstGeom>
        </p:spPr>
      </p:pic>
      <p:sp>
        <p:nvSpPr>
          <p:cNvPr id="10" name="Shape 6"/>
          <p:cNvSpPr/>
          <p:nvPr/>
        </p:nvSpPr>
        <p:spPr>
          <a:xfrm>
            <a:off x="6680200" y="3074671"/>
            <a:ext cx="4699000" cy="1925320"/>
          </a:xfrm>
          <a:prstGeom prst="roundRect">
            <a:avLst>
              <a:gd name="adj" fmla="val 6596"/>
            </a:avLst>
          </a:prstGeom>
          <a:solidFill>
            <a:srgbClr val="FFFFFF"/>
          </a:solidFill>
          <a:ln/>
        </p:spPr>
        <p:txBody>
          <a:bodyPr/>
          <a:p/>
        </p:txBody>
      </p:sp>
      <p:sp>
        <p:nvSpPr>
          <p:cNvPr id="11" name="Shape 7"/>
          <p:cNvSpPr/>
          <p:nvPr/>
        </p:nvSpPr>
        <p:spPr>
          <a:xfrm>
            <a:off x="6680200" y="3074671"/>
            <a:ext cx="4699000" cy="1925320"/>
          </a:xfrm>
          <a:custGeom>
            <a:avLst/>
            <a:gdLst/>
            <a:ahLst/>
            <a:cxnLst/>
            <a:rect l="l" t="t" r="r" b="b"/>
            <a:pathLst>
              <a:path w="4699000" h="1925320">
                <a:moveTo>
                  <a:pt x="127000" y="0"/>
                </a:moveTo>
                <a:lnTo>
                  <a:pt x="4572000" y="0"/>
                </a:lnTo>
                <a:arcTo wR="127000" hR="127000" stAng="16200000" swAng="5400000"/>
                <a:lnTo>
                  <a:pt x="4699000" y="1798320"/>
                </a:lnTo>
                <a:arcTo wR="127000" hR="127000" stAng="0" swAng="5400000"/>
                <a:lnTo>
                  <a:pt x="127000" y="1925320"/>
                </a:lnTo>
                <a:arcTo wR="127000" hR="127000" stAng="5400000" swAng="5400000"/>
                <a:lnTo>
                  <a:pt x="0" y="127000"/>
                </a:lnTo>
                <a:arcTo wR="127000" hR="127000" stAng="10800000" swAng="5400000"/>
                <a:close/>
                <a:moveTo>
                  <a:pt x="127000" y="50800"/>
                </a:moveTo>
                <a:arcTo wR="114300" hR="76200" stAng="16200000" swAng="-5400000"/>
                <a:lnTo>
                  <a:pt x="12700" y="1798320"/>
                </a:lnTo>
                <a:arcTo wR="114300" hR="114300" stAng="10800000" swAng="-5400000"/>
                <a:lnTo>
                  <a:pt x="4572000" y="1912620"/>
                </a:lnTo>
                <a:arcTo wR="114300" hR="114300" stAng="5400000" swAng="-5400000"/>
                <a:lnTo>
                  <a:pt x="4686300" y="127000"/>
                </a:lnTo>
                <a:arcTo wR="114300" hR="76200" stAng="0" swAng="-5400000"/>
                <a:close/>
              </a:path>
            </a:pathLst>
          </a:custGeom>
          <a:solidFill>
            <a:srgbClr val="000000"/>
          </a:solidFill>
          <a:ln/>
        </p:spPr>
        <p:txBody>
          <a:bodyPr/>
          <a:p/>
        </p:txBody>
      </p:sp>
      <p:sp>
        <p:nvSpPr>
          <p:cNvPr id="12" name="Text 8"/>
          <p:cNvSpPr/>
          <p:nvPr/>
        </p:nvSpPr>
        <p:spPr>
          <a:xfrm>
            <a:off x="6995160" y="3430271"/>
            <a:ext cx="419115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Public Sans" pitchFamily="34" charset="0"/>
                <a:ea typeface="Public Sans" pitchFamily="34" charset="-122"/>
                <a:cs typeface="Public Sans" pitchFamily="34" charset="-120"/>
              </a:rPr>
              <a:t>Proposed system</a:t>
            </a:r>
            <a:endParaRPr lang="en-US" sz="1800" dirty="0"/>
          </a:p>
        </p:txBody>
      </p:sp>
      <p:sp>
        <p:nvSpPr>
          <p:cNvPr id="13" name="Text 9"/>
          <p:cNvSpPr/>
          <p:nvPr/>
        </p:nvSpPr>
        <p:spPr>
          <a:xfrm>
            <a:off x="7079742" y="3831592"/>
            <a:ext cx="4098950" cy="878840"/>
          </a:xfrm>
          <a:prstGeom prst="rect">
            <a:avLst/>
          </a:prstGeom>
          <a:noFill/>
          <a:ln/>
        </p:spPr>
        <p:txBody>
          <a:bodyPr wrap="square" lIns="0" tIns="0" rIns="0" bIns="0" rtlCol="0" anchor="t">
            <a:normAutofit/>
          </a:bodyPr>
          <a:lstStyle/>
          <a:p>
            <a:pPr marL="169418" indent="-169418" algn="l">
              <a:lnSpc>
                <a:spcPts val="2240"/>
              </a:lnSpc>
              <a:spcAft>
                <a:spcPts val="300"/>
              </a:spcAft>
              <a:buSzPct val="100000"/>
              <a:buChar char="•"/>
            </a:pPr>
            <a:r>
              <a:rPr sz="1300"/>
              <a:t>• Compare a custom CNN with pretrained EfficientNet-B0.</a:t>
            </a:r>
            <a:endParaRPr lang="en-US" sz="1400" dirty="0"/>
          </a:p>
          <a:p>
            <a:pPr>
              <a:spcAft>
                <a:spcPts val="300"/>
              </a:spcAft>
            </a:pPr>
            <a:r>
              <a:rPr sz="1300"/>
              <a:t>• Report macro F1, class-wise recall, confusion matrix, and ROC-AUC.</a:t>
            </a:r>
          </a:p>
          <a:p>
            <a:pPr>
              <a:spcAft>
                <a:spcPts val="300"/>
              </a:spcAft>
            </a:pPr>
            <a:r>
              <a:rPr sz="1300"/>
              <a:t>• Add Grad-CAM visualizations and a simple interactive demo.</a:t>
            </a:r>
          </a:p>
        </p:txBody>
      </p:sp>
      <p:sp>
        <p:nvSpPr>
          <p:cNvPr id="14" name="Text 10"/>
          <p:cNvSpPr/>
          <p:nvPr/>
        </p:nvSpPr>
        <p:spPr>
          <a:xfrm>
            <a:off x="812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Public Sans" pitchFamily="34" charset="0"/>
                <a:ea typeface="Public Sans" pitchFamily="34" charset="-122"/>
                <a:cs typeface="Public Sans" pitchFamily="34" charset="-120"/>
              </a:rPr>
              <a:t>The Apollo University · Dept. of CSE (AI &amp; DS) · Mini Project Review [I]</a:t>
            </a:r>
            <a:endParaRPr lang="en-US" sz="1200" dirty="0"/>
          </a:p>
        </p:txBody>
      </p:sp>
      <p:sp>
        <p:nvSpPr>
          <p:cNvPr id="15" name="Text 11"/>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Public Sans" pitchFamily="34" charset="0"/>
                <a:ea typeface="Public Sans" pitchFamily="34" charset="-122"/>
                <a:cs typeface="Public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The Apollo University logo"/>
          <p:cNvPicPr>
            <a:picLocks noChangeAspect="1"/>
          </p:cNvPicPr>
          <p:nvPr/>
        </p:nvPicPr>
        <p:blipFill>
          <a:blip r:embed="rId3"/>
          <a:srcRect l="-12500" r="-12500"/>
          <a:stretch/>
        </p:blipFill>
        <p:spPr>
          <a:xfrm>
            <a:off x="10426700" y="609600"/>
            <a:ext cx="952500" cy="762000"/>
          </a:xfrm>
          <a:prstGeom prst="rect">
            <a:avLst/>
          </a:prstGeom>
        </p:spPr>
      </p:pic>
      <p:sp>
        <p:nvSpPr>
          <p:cNvPr id="3" name="Text 0"/>
          <p:cNvSpPr/>
          <p:nvPr/>
        </p:nvSpPr>
        <p:spPr>
          <a:xfrm>
            <a:off x="812800" y="812800"/>
            <a:ext cx="941832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Public Sans" pitchFamily="34" charset="0"/>
                <a:ea typeface="Public Sans" pitchFamily="34" charset="-122"/>
                <a:cs typeface="Public Sans" pitchFamily="34" charset="-120"/>
              </a:rPr>
              <a:t>REVIEW II · SYSTEM ARCHITECTURE</a:t>
            </a:r>
            <a:endParaRPr lang="en-US" sz="1200" dirty="0"/>
          </a:p>
        </p:txBody>
      </p:sp>
      <p:sp>
        <p:nvSpPr>
          <p:cNvPr id="4" name="Text 1"/>
          <p:cNvSpPr>
            <a:spLocks noGrp="1"/>
          </p:cNvSpPr>
          <p:nvPr>
            <p:ph type="title"/>
          </p:nvPr>
        </p:nvSpPr>
        <p:spPr>
          <a:xfrm>
            <a:off x="812800" y="1102364"/>
            <a:ext cx="941832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00000"/>
                </a:solidFill>
                <a:latin typeface="Libre Baskerville" pitchFamily="18" charset="0"/>
                <a:ea typeface="Libre Baskerville" pitchFamily="18" charset="-122"/>
                <a:cs typeface="Libre Baskerville" pitchFamily="18" charset="-120"/>
              </a:rPr>
              <a:t>Proposed system architecture</a:t>
            </a:r>
            <a:endParaRPr lang="en-US" sz="3000" dirty="0"/>
          </a:p>
        </p:txBody>
      </p:sp>
      <p:sp>
        <p:nvSpPr>
          <p:cNvPr id="5" name="Text 2"/>
          <p:cNvSpPr/>
          <p:nvPr/>
        </p:nvSpPr>
        <p:spPr>
          <a:xfrm>
            <a:off x="822325" y="1778639"/>
            <a:ext cx="7035403" cy="4053840"/>
          </a:xfrm>
          <a:prstGeom prst="roundRect">
            <a:avLst>
              <a:gd name="adj" fmla="val 2898"/>
            </a:avLst>
          </a:prstGeom>
          <a:solidFill>
            <a:srgbClr val="FFFFFF"/>
          </a:solidFill>
          <a:ln w="19050">
            <a:solidFill>
              <a:srgbClr val="000000"/>
            </a:solidFill>
            <a:prstDash val="dash"/>
          </a:ln>
        </p:spPr>
        <p:txBody>
          <a:bodyPr wrap="square" lIns="1601389" tIns="225308" rIns="1601468" bIns="225308" rtlCol="0" anchor="ctr">
            <a:normAutofit/>
          </a:bodyPr>
          <a:lstStyle/>
          <a:p/>
        </p:txBody>
      </p:sp>
      <p:sp>
        <p:nvSpPr>
          <p:cNvPr id="6" name="Text 3"/>
          <p:cNvSpPr/>
          <p:nvPr/>
        </p:nvSpPr>
        <p:spPr>
          <a:xfrm>
            <a:off x="8121253" y="1819914"/>
            <a:ext cx="335568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0000"/>
                </a:solidFill>
                <a:latin typeface="Public Sans" pitchFamily="34" charset="0"/>
                <a:ea typeface="Public Sans" pitchFamily="34" charset="-122"/>
                <a:cs typeface="Public Sans" pitchFamily="34" charset="-120"/>
              </a:rPr>
              <a:t>Components</a:t>
            </a:r>
            <a:endParaRPr lang="en-US" sz="1600" dirty="0"/>
          </a:p>
        </p:txBody>
      </p:sp>
      <p:sp>
        <p:nvSpPr>
          <p:cNvPr id="7" name="Text 4"/>
          <p:cNvSpPr/>
          <p:nvPr/>
        </p:nvSpPr>
        <p:spPr>
          <a:xfrm>
            <a:off x="8154194" y="2190750"/>
            <a:ext cx="3315125" cy="1163320"/>
          </a:xfrm>
          <a:prstGeom prst="rect">
            <a:avLst/>
          </a:prstGeom>
          <a:noFill/>
          <a:ln/>
        </p:spPr>
        <p:txBody>
          <a:bodyPr wrap="square" lIns="0" tIns="0" rIns="0" bIns="0" rtlCol="0" anchor="t">
            <a:normAutofit/>
          </a:bodyPr>
          <a:lstStyle/>
          <a:p>
            <a:pPr marL="221059" indent="-221059" algn="l">
              <a:lnSpc>
                <a:spcPts val="2240"/>
              </a:lnSpc>
              <a:spcAft>
                <a:spcPts val="300"/>
              </a:spcAft>
              <a:buSzPct val="100000"/>
              <a:buFontTx/>
              <a:buAutoNum type="arabicPeriod"/>
            </a:pPr>
            <a:r>
              <a:rPr sz="1200"/>
              <a:t>1. Input: labelled MRI image folders / uploaded image</a:t>
            </a:r>
            <a:endParaRPr lang="en-US" sz="1400" dirty="0"/>
          </a:p>
          <a:p>
            <a:pPr>
              <a:spcAft>
                <a:spcPts val="300"/>
              </a:spcAft>
            </a:pPr>
            <a:r>
              <a:rPr sz="1200"/>
              <a:t>2. Processing: preprocessing and trained CNN models</a:t>
            </a:r>
          </a:p>
          <a:p>
            <a:pPr>
              <a:spcAft>
                <a:spcPts val="300"/>
              </a:spcAft>
            </a:pPr>
            <a:r>
              <a:rPr sz="1200"/>
              <a:t>3. Storage: saved Keras model checkpoints and reports</a:t>
            </a:r>
          </a:p>
          <a:p>
            <a:pPr>
              <a:spcAft>
                <a:spcPts val="300"/>
              </a:spcAft>
            </a:pPr>
            <a:r>
              <a:rPr sz="1200"/>
              <a:t>4. Output: predicted class, score plot, heatmap</a:t>
            </a:r>
          </a:p>
        </p:txBody>
      </p:sp>
      <p:sp>
        <p:nvSpPr>
          <p:cNvPr id="8" name="Text 5"/>
          <p:cNvSpPr/>
          <p:nvPr/>
        </p:nvSpPr>
        <p:spPr>
          <a:xfrm>
            <a:off x="812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Public Sans" pitchFamily="34" charset="0"/>
                <a:ea typeface="Public Sans" pitchFamily="34" charset="-122"/>
                <a:cs typeface="Public Sans" pitchFamily="34" charset="-120"/>
              </a:rPr>
              <a:t>The Apollo University · Dept. of CSE (AI &amp; DS) · Mini Project Review [II]</a:t>
            </a:r>
            <a:endParaRPr lang="en-US" sz="1200" dirty="0"/>
          </a:p>
        </p:txBody>
      </p:sp>
      <p:sp>
        <p:nvSpPr>
          <p:cNvPr id="9" name="Text 6"/>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Public Sans" pitchFamily="34" charset="0"/>
                <a:ea typeface="Public Sans" pitchFamily="34" charset="-122"/>
                <a:cs typeface="Public Sans" pitchFamily="34" charset="-120"/>
              </a:rPr>
              <a:t>10</a:t>
            </a:r>
            <a:endParaRPr lang="en-US" sz="1200" dirty="0"/>
          </a:p>
        </p:txBody>
      </p:sp>
      <p:pic>
        <p:nvPicPr>
          <p:cNvPr id="10" name="Picture 9" descr="system_architecture.png"/>
          <p:cNvPicPr>
            <a:picLocks noChangeAspect="1"/>
          </p:cNvPicPr>
          <p:nvPr/>
        </p:nvPicPr>
        <p:blipFill>
          <a:blip r:embed="rId4"/>
          <a:stretch>
            <a:fillRect/>
          </a:stretch>
        </p:blipFill>
        <p:spPr>
          <a:xfrm>
            <a:off x="822960" y="1645920"/>
            <a:ext cx="7772400" cy="4206240"/>
          </a:xfrm>
          <a:prstGeom prst="rect">
            <a:avLst/>
          </a:prstGeom>
        </p:spPr>
      </p:pic>
      <p:pic>
        <p:nvPicPr>
          <p:cNvPr id="11" name="Picture 10" descr="system_architecture.png"/>
          <p:cNvPicPr>
            <a:picLocks noChangeAspect="1"/>
          </p:cNvPicPr>
          <p:nvPr/>
        </p:nvPicPr>
        <p:blipFill>
          <a:blip r:embed="rId5"/>
          <a:stretch>
            <a:fillRect/>
          </a:stretch>
        </p:blipFill>
        <p:spPr>
          <a:xfrm>
            <a:off x="822960" y="1645920"/>
            <a:ext cx="7772400" cy="42062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The Apollo University logo"/>
          <p:cNvPicPr>
            <a:picLocks noChangeAspect="1"/>
          </p:cNvPicPr>
          <p:nvPr/>
        </p:nvPicPr>
        <p:blipFill>
          <a:blip r:embed="rId3"/>
          <a:srcRect l="-12500" r="-12500"/>
          <a:stretch/>
        </p:blipFill>
        <p:spPr>
          <a:xfrm>
            <a:off x="10426700" y="609600"/>
            <a:ext cx="952500" cy="762000"/>
          </a:xfrm>
          <a:prstGeom prst="rect">
            <a:avLst/>
          </a:prstGeom>
        </p:spPr>
      </p:pic>
      <p:sp>
        <p:nvSpPr>
          <p:cNvPr id="3" name="Text 0"/>
          <p:cNvSpPr/>
          <p:nvPr/>
        </p:nvSpPr>
        <p:spPr>
          <a:xfrm>
            <a:off x="812800" y="812800"/>
            <a:ext cx="941832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Public Sans" pitchFamily="34" charset="0"/>
                <a:ea typeface="Public Sans" pitchFamily="34" charset="-122"/>
                <a:cs typeface="Public Sans" pitchFamily="34" charset="-120"/>
              </a:rPr>
              <a:t>REVIEW II · REQUIREMENTS</a:t>
            </a:r>
            <a:endParaRPr lang="en-US" sz="1200" dirty="0"/>
          </a:p>
        </p:txBody>
      </p:sp>
      <p:sp>
        <p:nvSpPr>
          <p:cNvPr id="4" name="Text 1"/>
          <p:cNvSpPr>
            <a:spLocks noGrp="1"/>
          </p:cNvSpPr>
          <p:nvPr>
            <p:ph type="title"/>
          </p:nvPr>
        </p:nvSpPr>
        <p:spPr>
          <a:xfrm>
            <a:off x="812800" y="1102364"/>
            <a:ext cx="941832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00000"/>
                </a:solidFill>
                <a:latin typeface="Libre Baskerville" pitchFamily="18" charset="0"/>
                <a:ea typeface="Libre Baskerville" pitchFamily="18" charset="-122"/>
                <a:cs typeface="Libre Baskerville" pitchFamily="18" charset="-120"/>
              </a:rPr>
              <a:t>Hardware and software requirements</a:t>
            </a:r>
            <a:endParaRPr lang="en-US" sz="3000" dirty="0"/>
          </a:p>
        </p:txBody>
      </p:sp>
      <p:sp>
        <p:nvSpPr>
          <p:cNvPr id="5" name="Text 2"/>
          <p:cNvSpPr/>
          <p:nvPr/>
        </p:nvSpPr>
        <p:spPr>
          <a:xfrm>
            <a:off x="812800" y="1794514"/>
            <a:ext cx="531088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0000"/>
                </a:solidFill>
                <a:latin typeface="Public Sans" pitchFamily="34" charset="0"/>
                <a:ea typeface="Public Sans" pitchFamily="34" charset="-122"/>
                <a:cs typeface="Public Sans" pitchFamily="34" charset="-120"/>
              </a:rPr>
              <a:t>Hardware</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2150110"/>
          <a:ext cx="5146040" cy="1784350"/>
        </p:xfrm>
        <a:graphic>
          <a:graphicData uri="http://schemas.openxmlformats.org/drawingml/2006/table">
            <a:tbl>
              <a:tblPr/>
              <a:tblGrid>
                <a:gridCol w="2058416">
                  <a:extLst>
                    <a:ext uri="{9D8B030D-6E8A-4147-A177-3AD203B41FA5}">
                      <a16:colId xmlns:a16="http://schemas.microsoft.com/office/drawing/2014/main" val="20000"/>
                    </a:ext>
                  </a:extLst>
                </a:gridCol>
                <a:gridCol w="3087624">
                  <a:extLst>
                    <a:ext uri="{9D8B030D-6E8A-4147-A177-3AD203B41FA5}">
                      <a16:colId xmlns:a16="http://schemas.microsoft.com/office/drawing/2014/main" val="20001"/>
                    </a:ext>
                  </a:extLst>
                </a:gridCol>
              </a:tblGrid>
              <a:tr h="356870">
                <a:tc>
                  <a:txBody>
                    <a:bodyPr/>
                    <a:lstStyle/>
                    <a:p>
                      <a:pPr marL="0" indent="0">
                        <a:lnSpc>
                          <a:spcPts val="1820"/>
                        </a:lnSpc>
                        <a:buNone/>
                      </a:pPr>
                      <a:r>
                        <a:rPr lang="en-US" sz="1300" b="1" dirty="0">
                          <a:solidFill>
                            <a:srgbClr val="000000"/>
                          </a:solidFill>
                          <a:latin typeface="Public Sans" pitchFamily="34" charset="0"/>
                          <a:ea typeface="Public Sans" pitchFamily="34" charset="-122"/>
                          <a:cs typeface="Public Sans" pitchFamily="34" charset="-120"/>
                        </a:rPr>
                        <a:t>Item</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b="1" dirty="0">
                          <a:solidFill>
                            <a:srgbClr val="000000"/>
                          </a:solidFill>
                          <a:latin typeface="Public Sans" pitchFamily="34" charset="0"/>
                          <a:ea typeface="Public Sans" pitchFamily="34" charset="-122"/>
                          <a:cs typeface="Public Sans" pitchFamily="34" charset="-120"/>
                        </a:rPr>
                        <a:t>Specification</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56870">
                <a:tc>
                  <a:txBody>
                    <a:bodyPr/>
                    <a:lstStyle/>
                    <a:p>
                      <a:r>
                        <a:rPr sz="850"/>
                        <a:t>Processor</a:t>
                      </a: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rPr sz="850"/>
                        <a:t>Modern multi-core CPU</a:t>
                      </a: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870">
                <a:tc>
                  <a:txBody>
                    <a:bodyPr/>
                    <a:lstStyle/>
                    <a:p>
                      <a:r>
                        <a:rPr sz="850"/>
                        <a:t>RAM</a:t>
                      </a: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rPr sz="850"/>
                        <a:t>8 GB minimum; 16 GB recommended</a:t>
                      </a: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6870">
                <a:tc>
                  <a:txBody>
                    <a:bodyPr/>
                    <a:lstStyle/>
                    <a:p>
                      <a:r>
                        <a:rPr sz="850"/>
                        <a:t>Storage</a:t>
                      </a: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rPr sz="850"/>
                        <a:t>2–5 GB plus dataset/models</a:t>
                      </a: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870">
                <a:tc>
                  <a:txBody>
                    <a:bodyPr/>
                    <a:lstStyle/>
                    <a:p>
                      <a:r>
                        <a:rPr sz="850"/>
                        <a:t>GPU (if any)</a:t>
                      </a: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rPr sz="850"/>
                        <a:t>Optional; NVIDIA GPU can speed training</a:t>
                      </a: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Text 3"/>
          <p:cNvSpPr/>
          <p:nvPr/>
        </p:nvSpPr>
        <p:spPr>
          <a:xfrm>
            <a:off x="6223000" y="1794514"/>
            <a:ext cx="531088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0000"/>
                </a:solidFill>
                <a:latin typeface="Public Sans" pitchFamily="34" charset="0"/>
                <a:ea typeface="Public Sans" pitchFamily="34" charset="-122"/>
                <a:cs typeface="Public Sans" pitchFamily="34" charset="-120"/>
              </a:rPr>
              <a:t>Software</a:t>
            </a:r>
            <a:endParaRPr lang="en-US" sz="1600" dirty="0"/>
          </a:p>
        </p:txBody>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6233160" y="2150110"/>
          <a:ext cx="5146040" cy="1784350"/>
        </p:xfrm>
        <a:graphic>
          <a:graphicData uri="http://schemas.openxmlformats.org/drawingml/2006/table">
            <a:tbl>
              <a:tblPr/>
              <a:tblGrid>
                <a:gridCol w="2058416">
                  <a:extLst>
                    <a:ext uri="{9D8B030D-6E8A-4147-A177-3AD203B41FA5}">
                      <a16:colId xmlns:a16="http://schemas.microsoft.com/office/drawing/2014/main" val="20000"/>
                    </a:ext>
                  </a:extLst>
                </a:gridCol>
                <a:gridCol w="3087624">
                  <a:extLst>
                    <a:ext uri="{9D8B030D-6E8A-4147-A177-3AD203B41FA5}">
                      <a16:colId xmlns:a16="http://schemas.microsoft.com/office/drawing/2014/main" val="20001"/>
                    </a:ext>
                  </a:extLst>
                </a:gridCol>
              </a:tblGrid>
              <a:tr h="356870">
                <a:tc>
                  <a:txBody>
                    <a:bodyPr/>
                    <a:lstStyle/>
                    <a:p>
                      <a:pPr marL="0" indent="0">
                        <a:lnSpc>
                          <a:spcPts val="1820"/>
                        </a:lnSpc>
                        <a:buNone/>
                      </a:pPr>
                      <a:r>
                        <a:rPr lang="en-US" sz="1300" b="1" dirty="0">
                          <a:solidFill>
                            <a:srgbClr val="000000"/>
                          </a:solidFill>
                          <a:latin typeface="Public Sans" pitchFamily="34" charset="0"/>
                          <a:ea typeface="Public Sans" pitchFamily="34" charset="-122"/>
                          <a:cs typeface="Public Sans" pitchFamily="34" charset="-120"/>
                        </a:rPr>
                        <a:t>Item</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b="1" dirty="0">
                          <a:solidFill>
                            <a:srgbClr val="000000"/>
                          </a:solidFill>
                          <a:latin typeface="Public Sans" pitchFamily="34" charset="0"/>
                          <a:ea typeface="Public Sans" pitchFamily="34" charset="-122"/>
                          <a:cs typeface="Public Sans" pitchFamily="34" charset="-120"/>
                        </a:rPr>
                        <a:t>Specification</a:t>
                      </a:r>
                      <a:endParaRPr lang="en-US" sz="1300" dirty="0">
                        <a:latin typeface="Public Sans" charset="0"/>
                        <a:ea typeface="Public Sans" charset="0"/>
                        <a:cs typeface="Public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56870">
                <a:tc>
                  <a:txBody>
                    <a:bodyPr/>
                    <a:lstStyle/>
                    <a:p>
                      <a:r>
                        <a:rPr sz="850"/>
                        <a:t>Operating system</a:t>
                      </a: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rPr sz="850"/>
                        <a:t>Windows / Linux</a:t>
                      </a: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870">
                <a:tc>
                  <a:txBody>
                    <a:bodyPr/>
                    <a:lstStyle/>
                    <a:p>
                      <a:r>
                        <a:rPr sz="850"/>
                        <a:t>Language</a:t>
                      </a: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rPr sz="850"/>
                        <a:t>Python 3.x</a:t>
                      </a: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6870">
                <a:tc>
                  <a:txBody>
                    <a:bodyPr/>
                    <a:lstStyle/>
                    <a:p>
                      <a:r>
                        <a:rPr sz="850"/>
                        <a:t>Frameworks</a:t>
                      </a: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rPr sz="850"/>
                        <a:t>TensorFlow/Keras, Streamlit, scikit-learn</a:t>
                      </a: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870">
                <a:tc>
                  <a:txBody>
                    <a:bodyPr/>
                    <a:lstStyle/>
                    <a:p>
                      <a:r>
                        <a:rPr sz="850"/>
                        <a:t>Database / Tools</a:t>
                      </a: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rPr sz="850"/>
                        <a:t>NumPy, pandas, Matplotlib, Pillow, Grad-CAM utilities</a:t>
                      </a: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Text 4"/>
          <p:cNvSpPr/>
          <p:nvPr/>
        </p:nvSpPr>
        <p:spPr>
          <a:xfrm>
            <a:off x="812800" y="4188464"/>
            <a:ext cx="10883392" cy="273050"/>
          </a:xfrm>
          <a:prstGeom prst="rect">
            <a:avLst/>
          </a:prstGeom>
          <a:noFill/>
          <a:ln/>
        </p:spPr>
        <p:txBody>
          <a:bodyPr wrap="square" lIns="0" tIns="0" rIns="0" bIns="0" rtlCol="0" anchor="t">
            <a:normAutofit/>
          </a:bodyPr>
          <a:lstStyle/>
          <a:p>
            <a:pPr marL="0" indent="0" algn="l">
              <a:lnSpc>
                <a:spcPts val="1950"/>
              </a:lnSpc>
              <a:spcAft>
                <a:spcPts val="300"/>
              </a:spcAft>
              <a:buNone/>
            </a:pPr>
            <a:r>
              <a:rPr sz="1000"/>
              <a:t>Functional: upload/load MRI, predict class, show metrics/heatmap. Non-functional: reproducibility, usability, safe disclaimers.</a:t>
            </a:r>
            <a:endParaRPr lang="en-US" sz="1300" dirty="0"/>
          </a:p>
        </p:txBody>
      </p:sp>
      <p:sp>
        <p:nvSpPr>
          <p:cNvPr id="10" name="Text 5"/>
          <p:cNvSpPr/>
          <p:nvPr/>
        </p:nvSpPr>
        <p:spPr>
          <a:xfrm>
            <a:off x="812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Public Sans" pitchFamily="34" charset="0"/>
                <a:ea typeface="Public Sans" pitchFamily="34" charset="-122"/>
                <a:cs typeface="Public Sans" pitchFamily="34" charset="-120"/>
              </a:rPr>
              <a:t>The Apollo University · Dept. of CSE (AI &amp; DS) · Mini Project Review [II]</a:t>
            </a:r>
            <a:endParaRPr lang="en-US" sz="1200" dirty="0"/>
          </a:p>
        </p:txBody>
      </p:sp>
      <p:sp>
        <p:nvSpPr>
          <p:cNvPr id="11" name="Text 6"/>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Public Sans" pitchFamily="34" charset="0"/>
                <a:ea typeface="Public Sans" pitchFamily="34" charset="-122"/>
                <a:cs typeface="Public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The Apollo University logo"/>
          <p:cNvPicPr>
            <a:picLocks noChangeAspect="1"/>
          </p:cNvPicPr>
          <p:nvPr/>
        </p:nvPicPr>
        <p:blipFill>
          <a:blip r:embed="rId3"/>
          <a:srcRect l="-12500" r="-12500"/>
          <a:stretch/>
        </p:blipFill>
        <p:spPr>
          <a:xfrm>
            <a:off x="10426700" y="609600"/>
            <a:ext cx="952500" cy="762000"/>
          </a:xfrm>
          <a:prstGeom prst="rect">
            <a:avLst/>
          </a:prstGeom>
        </p:spPr>
      </p:pic>
      <p:sp>
        <p:nvSpPr>
          <p:cNvPr id="3" name="Text 0"/>
          <p:cNvSpPr/>
          <p:nvPr/>
        </p:nvSpPr>
        <p:spPr>
          <a:xfrm>
            <a:off x="812800" y="812800"/>
            <a:ext cx="941832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Public Sans" pitchFamily="34" charset="0"/>
                <a:ea typeface="Public Sans" pitchFamily="34" charset="-122"/>
                <a:cs typeface="Public Sans" pitchFamily="34" charset="-120"/>
              </a:rPr>
              <a:t>REVIEW II · METHODOLOGY</a:t>
            </a:r>
            <a:endParaRPr lang="en-US" sz="1200" dirty="0"/>
          </a:p>
        </p:txBody>
      </p:sp>
      <p:sp>
        <p:nvSpPr>
          <p:cNvPr id="4" name="Text 1"/>
          <p:cNvSpPr>
            <a:spLocks noGrp="1"/>
          </p:cNvSpPr>
          <p:nvPr>
            <p:ph type="title"/>
          </p:nvPr>
        </p:nvSpPr>
        <p:spPr>
          <a:xfrm>
            <a:off x="812800" y="1102364"/>
            <a:ext cx="941832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00000"/>
                </a:solidFill>
                <a:latin typeface="Libre Baskerville" pitchFamily="18" charset="0"/>
                <a:ea typeface="Libre Baskerville" pitchFamily="18" charset="-122"/>
                <a:cs typeface="Libre Baskerville" pitchFamily="18" charset="-120"/>
              </a:rPr>
              <a:t>Workflow of the proposed system</a:t>
            </a:r>
            <a:endParaRPr lang="en-US" sz="3000" dirty="0"/>
          </a:p>
        </p:txBody>
      </p:sp>
      <p:sp>
        <p:nvSpPr>
          <p:cNvPr id="5" name="Shape 2"/>
          <p:cNvSpPr/>
          <p:nvPr/>
        </p:nvSpPr>
        <p:spPr>
          <a:xfrm>
            <a:off x="812800" y="1845314"/>
            <a:ext cx="1706880" cy="1645920"/>
          </a:xfrm>
          <a:prstGeom prst="roundRect">
            <a:avLst>
              <a:gd name="adj" fmla="val 6173"/>
            </a:avLst>
          </a:prstGeom>
          <a:solidFill>
            <a:srgbClr val="FFFFFF"/>
          </a:solidFill>
          <a:ln/>
        </p:spPr>
        <p:txBody>
          <a:bodyPr/>
          <a:p/>
        </p:txBody>
      </p:sp>
      <p:sp>
        <p:nvSpPr>
          <p:cNvPr id="6" name="Shape 3"/>
          <p:cNvSpPr/>
          <p:nvPr/>
        </p:nvSpPr>
        <p:spPr>
          <a:xfrm>
            <a:off x="812800" y="1845314"/>
            <a:ext cx="1706880" cy="1645920"/>
          </a:xfrm>
          <a:custGeom>
            <a:avLst/>
            <a:gdLst/>
            <a:ahLst/>
            <a:cxnLst/>
            <a:rect l="l" t="t" r="r" b="b"/>
            <a:pathLst>
              <a:path w="1706880" h="1645920">
                <a:moveTo>
                  <a:pt x="101600" y="0"/>
                </a:moveTo>
                <a:lnTo>
                  <a:pt x="1605280" y="0"/>
                </a:lnTo>
                <a:arcTo wR="101600" hR="101600" stAng="16200000" swAng="5400000"/>
                <a:lnTo>
                  <a:pt x="1706880" y="1544320"/>
                </a:lnTo>
                <a:arcTo wR="101600" hR="101600" stAng="0" swAng="5400000"/>
                <a:lnTo>
                  <a:pt x="101600" y="1645920"/>
                </a:lnTo>
                <a:arcTo wR="101600" hR="101600" stAng="5400000" swAng="5400000"/>
                <a:lnTo>
                  <a:pt x="0" y="101600"/>
                </a:lnTo>
                <a:arcTo wR="101600" hR="101600" stAng="10800000" swAng="5400000"/>
                <a:close/>
                <a:moveTo>
                  <a:pt x="101600" y="50800"/>
                </a:moveTo>
                <a:arcTo wR="88900" hR="50800" stAng="16200000" swAng="-5400000"/>
                <a:lnTo>
                  <a:pt x="12700" y="1544320"/>
                </a:lnTo>
                <a:arcTo wR="88900" hR="88900" stAng="10800000" swAng="-5400000"/>
                <a:lnTo>
                  <a:pt x="1605280" y="1633220"/>
                </a:lnTo>
                <a:arcTo wR="88900" hR="88900" stAng="5400000" swAng="-5400000"/>
                <a:lnTo>
                  <a:pt x="1694180" y="101600"/>
                </a:lnTo>
                <a:arcTo wR="88900" hR="50800" stAng="0" swAng="-5400000"/>
                <a:close/>
              </a:path>
            </a:pathLst>
          </a:custGeom>
          <a:solidFill>
            <a:srgbClr val="000000"/>
          </a:solidFill>
          <a:ln/>
        </p:spPr>
        <p:txBody>
          <a:bodyPr/>
          <a:p/>
        </p:txBody>
      </p:sp>
      <p:sp>
        <p:nvSpPr>
          <p:cNvPr id="7" name="Text 4"/>
          <p:cNvSpPr/>
          <p:nvPr/>
        </p:nvSpPr>
        <p:spPr>
          <a:xfrm>
            <a:off x="1026160" y="2099314"/>
            <a:ext cx="133096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00000"/>
                </a:solidFill>
                <a:latin typeface="Public Sans" pitchFamily="34" charset="0"/>
                <a:ea typeface="Public Sans" pitchFamily="34" charset="-122"/>
                <a:cs typeface="Public Sans" pitchFamily="34" charset="-120"/>
              </a:rPr>
              <a:t>01</a:t>
            </a:r>
            <a:endParaRPr lang="en-US" sz="2000" dirty="0"/>
          </a:p>
        </p:txBody>
      </p:sp>
      <p:sp>
        <p:nvSpPr>
          <p:cNvPr id="8" name="Text 5"/>
          <p:cNvSpPr/>
          <p:nvPr/>
        </p:nvSpPr>
        <p:spPr>
          <a:xfrm>
            <a:off x="1026160" y="2531114"/>
            <a:ext cx="13309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00"/>
                </a:solidFill>
                <a:latin typeface="Public Sans" pitchFamily="34" charset="0"/>
                <a:ea typeface="Public Sans" pitchFamily="34" charset="-122"/>
                <a:cs typeface="Public Sans" pitchFamily="34" charset="-120"/>
              </a:rPr>
              <a:t>Input</a:t>
            </a:r>
            <a:endParaRPr lang="en-US" sz="1500" dirty="0"/>
          </a:p>
        </p:txBody>
      </p:sp>
      <p:sp>
        <p:nvSpPr>
          <p:cNvPr id="9" name="Text 6"/>
          <p:cNvSpPr/>
          <p:nvPr/>
        </p:nvSpPr>
        <p:spPr>
          <a:xfrm>
            <a:off x="1026160" y="2835914"/>
            <a:ext cx="1330960" cy="467360"/>
          </a:xfrm>
          <a:prstGeom prst="rect">
            <a:avLst/>
          </a:prstGeom>
          <a:noFill/>
          <a:ln/>
        </p:spPr>
        <p:txBody>
          <a:bodyPr wrap="square" lIns="0" tIns="0" rIns="0" bIns="0" rtlCol="0" anchor="t">
            <a:normAutofit/>
          </a:bodyPr>
          <a:lstStyle/>
          <a:p>
            <a:pPr marL="0" indent="0" algn="l">
              <a:lnSpc>
                <a:spcPts val="1740"/>
              </a:lnSpc>
              <a:spcAft>
                <a:spcPts val="300"/>
              </a:spcAft>
              <a:buNone/>
            </a:pPr>
            <a:r>
              <a:rPr sz="1000"/>
              <a:t>Labelled MRI dataset</a:t>
            </a:r>
            <a:endParaRPr lang="en-US" sz="1200" dirty="0"/>
          </a:p>
          <a:p>
            <a:pPr>
              <a:spcAft>
                <a:spcPts val="300"/>
              </a:spcAft>
            </a:pPr>
            <a:r>
              <a:rPr sz="1000"/>
              <a:t>4 classes</a:t>
            </a:r>
          </a:p>
        </p:txBody>
      </p:sp>
      <p:pic>
        <p:nvPicPr>
          <p:cNvPr id="10" name="Image 1" descr="arrow-right"/>
          <p:cNvPicPr>
            <a:picLocks noChangeAspect="1"/>
          </p:cNvPicPr>
          <p:nvPr/>
        </p:nvPicPr>
        <p:blipFill>
          <a:blip r:embed="rId4"/>
          <a:srcRect/>
          <a:stretch/>
        </p:blipFill>
        <p:spPr>
          <a:xfrm>
            <a:off x="2621280" y="2566671"/>
            <a:ext cx="304800" cy="203200"/>
          </a:xfrm>
          <a:prstGeom prst="rect">
            <a:avLst/>
          </a:prstGeom>
        </p:spPr>
      </p:pic>
      <p:sp>
        <p:nvSpPr>
          <p:cNvPr id="11" name="Shape 7"/>
          <p:cNvSpPr/>
          <p:nvPr/>
        </p:nvSpPr>
        <p:spPr>
          <a:xfrm>
            <a:off x="3027680" y="1845314"/>
            <a:ext cx="1706880" cy="1645920"/>
          </a:xfrm>
          <a:prstGeom prst="roundRect">
            <a:avLst>
              <a:gd name="adj" fmla="val 6173"/>
            </a:avLst>
          </a:prstGeom>
          <a:solidFill>
            <a:srgbClr val="FFFFFF"/>
          </a:solidFill>
          <a:ln/>
        </p:spPr>
        <p:txBody>
          <a:bodyPr/>
          <a:p/>
        </p:txBody>
      </p:sp>
      <p:sp>
        <p:nvSpPr>
          <p:cNvPr id="12" name="Shape 8"/>
          <p:cNvSpPr/>
          <p:nvPr/>
        </p:nvSpPr>
        <p:spPr>
          <a:xfrm>
            <a:off x="3027680" y="1845314"/>
            <a:ext cx="1706880" cy="1645920"/>
          </a:xfrm>
          <a:custGeom>
            <a:avLst/>
            <a:gdLst/>
            <a:ahLst/>
            <a:cxnLst/>
            <a:rect l="l" t="t" r="r" b="b"/>
            <a:pathLst>
              <a:path w="1706880" h="1645920">
                <a:moveTo>
                  <a:pt x="101600" y="0"/>
                </a:moveTo>
                <a:lnTo>
                  <a:pt x="1605280" y="0"/>
                </a:lnTo>
                <a:arcTo wR="101600" hR="101600" stAng="16200000" swAng="5400000"/>
                <a:lnTo>
                  <a:pt x="1706880" y="1544320"/>
                </a:lnTo>
                <a:arcTo wR="101600" hR="101600" stAng="0" swAng="5400000"/>
                <a:lnTo>
                  <a:pt x="101600" y="1645920"/>
                </a:lnTo>
                <a:arcTo wR="101600" hR="101600" stAng="5400000" swAng="5400000"/>
                <a:lnTo>
                  <a:pt x="0" y="101600"/>
                </a:lnTo>
                <a:arcTo wR="101600" hR="101600" stAng="10800000" swAng="5400000"/>
                <a:close/>
                <a:moveTo>
                  <a:pt x="101600" y="50800"/>
                </a:moveTo>
                <a:arcTo wR="88900" hR="50800" stAng="16200000" swAng="-5400000"/>
                <a:lnTo>
                  <a:pt x="12700" y="1544320"/>
                </a:lnTo>
                <a:arcTo wR="88900" hR="88900" stAng="10800000" swAng="-5400000"/>
                <a:lnTo>
                  <a:pt x="1605280" y="1633220"/>
                </a:lnTo>
                <a:arcTo wR="88900" hR="88900" stAng="5400000" swAng="-5400000"/>
                <a:lnTo>
                  <a:pt x="1694180" y="101600"/>
                </a:lnTo>
                <a:arcTo wR="88900" hR="50800" stAng="0" swAng="-5400000"/>
                <a:close/>
              </a:path>
            </a:pathLst>
          </a:custGeom>
          <a:solidFill>
            <a:srgbClr val="000000"/>
          </a:solidFill>
          <a:ln/>
        </p:spPr>
        <p:txBody>
          <a:bodyPr/>
          <a:p/>
        </p:txBody>
      </p:sp>
      <p:sp>
        <p:nvSpPr>
          <p:cNvPr id="13" name="Text 9"/>
          <p:cNvSpPr/>
          <p:nvPr/>
        </p:nvSpPr>
        <p:spPr>
          <a:xfrm>
            <a:off x="3241040" y="2099314"/>
            <a:ext cx="133096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00000"/>
                </a:solidFill>
                <a:latin typeface="Public Sans" pitchFamily="34" charset="0"/>
                <a:ea typeface="Public Sans" pitchFamily="34" charset="-122"/>
                <a:cs typeface="Public Sans" pitchFamily="34" charset="-120"/>
              </a:rPr>
              <a:t>02</a:t>
            </a:r>
            <a:endParaRPr lang="en-US" sz="2000" dirty="0"/>
          </a:p>
        </p:txBody>
      </p:sp>
      <p:sp>
        <p:nvSpPr>
          <p:cNvPr id="14" name="Text 10"/>
          <p:cNvSpPr/>
          <p:nvPr/>
        </p:nvSpPr>
        <p:spPr>
          <a:xfrm>
            <a:off x="3241040" y="2531114"/>
            <a:ext cx="13309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00"/>
                </a:solidFill>
                <a:latin typeface="Public Sans" pitchFamily="34" charset="0"/>
                <a:ea typeface="Public Sans" pitchFamily="34" charset="-122"/>
                <a:cs typeface="Public Sans" pitchFamily="34" charset="-120"/>
              </a:rPr>
              <a:t>Prepare</a:t>
            </a:r>
            <a:endParaRPr lang="en-US" sz="1500" dirty="0"/>
          </a:p>
        </p:txBody>
      </p:sp>
      <p:sp>
        <p:nvSpPr>
          <p:cNvPr id="15" name="Text 11"/>
          <p:cNvSpPr/>
          <p:nvPr/>
        </p:nvSpPr>
        <p:spPr>
          <a:xfrm>
            <a:off x="3241040" y="2835914"/>
            <a:ext cx="1330960" cy="467360"/>
          </a:xfrm>
          <a:prstGeom prst="rect">
            <a:avLst/>
          </a:prstGeom>
          <a:noFill/>
          <a:ln/>
        </p:spPr>
        <p:txBody>
          <a:bodyPr wrap="square" lIns="0" tIns="0" rIns="0" bIns="0" rtlCol="0" anchor="t">
            <a:normAutofit/>
          </a:bodyPr>
          <a:lstStyle/>
          <a:p>
            <a:pPr marL="0" indent="0" algn="l">
              <a:lnSpc>
                <a:spcPts val="1740"/>
              </a:lnSpc>
              <a:spcAft>
                <a:spcPts val="300"/>
              </a:spcAft>
              <a:buNone/>
            </a:pPr>
            <a:r>
              <a:rPr sz="1000"/>
              <a:t>RGB conversion</a:t>
            </a:r>
            <a:endParaRPr lang="en-US" sz="1200" dirty="0"/>
          </a:p>
          <a:p>
            <a:pPr>
              <a:spcAft>
                <a:spcPts val="300"/>
              </a:spcAft>
            </a:pPr>
            <a:r>
              <a:rPr sz="1000"/>
              <a:t>224×224 resize</a:t>
            </a:r>
          </a:p>
        </p:txBody>
      </p:sp>
      <p:pic>
        <p:nvPicPr>
          <p:cNvPr id="16" name="Image 2" descr="arrow-right"/>
          <p:cNvPicPr>
            <a:picLocks noChangeAspect="1"/>
          </p:cNvPicPr>
          <p:nvPr/>
        </p:nvPicPr>
        <p:blipFill>
          <a:blip r:embed="rId4"/>
          <a:srcRect/>
          <a:stretch/>
        </p:blipFill>
        <p:spPr>
          <a:xfrm>
            <a:off x="4836160" y="2566671"/>
            <a:ext cx="304800" cy="203200"/>
          </a:xfrm>
          <a:prstGeom prst="rect">
            <a:avLst/>
          </a:prstGeom>
        </p:spPr>
      </p:pic>
      <p:sp>
        <p:nvSpPr>
          <p:cNvPr id="17" name="Shape 12"/>
          <p:cNvSpPr/>
          <p:nvPr/>
        </p:nvSpPr>
        <p:spPr>
          <a:xfrm>
            <a:off x="5242560" y="1845314"/>
            <a:ext cx="1706880" cy="1645920"/>
          </a:xfrm>
          <a:prstGeom prst="roundRect">
            <a:avLst>
              <a:gd name="adj" fmla="val 6173"/>
            </a:avLst>
          </a:prstGeom>
          <a:solidFill>
            <a:srgbClr val="FFFFFF"/>
          </a:solidFill>
          <a:ln/>
        </p:spPr>
        <p:txBody>
          <a:bodyPr/>
          <a:p/>
        </p:txBody>
      </p:sp>
      <p:sp>
        <p:nvSpPr>
          <p:cNvPr id="18" name="Shape 13"/>
          <p:cNvSpPr/>
          <p:nvPr/>
        </p:nvSpPr>
        <p:spPr>
          <a:xfrm>
            <a:off x="5242560" y="1845314"/>
            <a:ext cx="1706880" cy="1645920"/>
          </a:xfrm>
          <a:custGeom>
            <a:avLst/>
            <a:gdLst/>
            <a:ahLst/>
            <a:cxnLst/>
            <a:rect l="l" t="t" r="r" b="b"/>
            <a:pathLst>
              <a:path w="1706880" h="1645920">
                <a:moveTo>
                  <a:pt x="101600" y="0"/>
                </a:moveTo>
                <a:lnTo>
                  <a:pt x="1605280" y="0"/>
                </a:lnTo>
                <a:arcTo wR="101600" hR="101600" stAng="16200000" swAng="5400000"/>
                <a:lnTo>
                  <a:pt x="1706880" y="1544320"/>
                </a:lnTo>
                <a:arcTo wR="101600" hR="101600" stAng="0" swAng="5400000"/>
                <a:lnTo>
                  <a:pt x="101600" y="1645920"/>
                </a:lnTo>
                <a:arcTo wR="101600" hR="101600" stAng="5400000" swAng="5400000"/>
                <a:lnTo>
                  <a:pt x="0" y="101600"/>
                </a:lnTo>
                <a:arcTo wR="101600" hR="101600" stAng="10800000" swAng="5400000"/>
                <a:close/>
                <a:moveTo>
                  <a:pt x="101600" y="50800"/>
                </a:moveTo>
                <a:arcTo wR="88900" hR="50800" stAng="16200000" swAng="-5400000"/>
                <a:lnTo>
                  <a:pt x="12700" y="1544320"/>
                </a:lnTo>
                <a:arcTo wR="88900" hR="88900" stAng="10800000" swAng="-5400000"/>
                <a:lnTo>
                  <a:pt x="1605280" y="1633220"/>
                </a:lnTo>
                <a:arcTo wR="88900" hR="88900" stAng="5400000" swAng="-5400000"/>
                <a:lnTo>
                  <a:pt x="1694180" y="101600"/>
                </a:lnTo>
                <a:arcTo wR="88900" hR="50800" stAng="0" swAng="-5400000"/>
                <a:close/>
              </a:path>
            </a:pathLst>
          </a:custGeom>
          <a:solidFill>
            <a:srgbClr val="000000"/>
          </a:solidFill>
          <a:ln/>
        </p:spPr>
        <p:txBody>
          <a:bodyPr/>
          <a:p/>
        </p:txBody>
      </p:sp>
      <p:sp>
        <p:nvSpPr>
          <p:cNvPr id="19" name="Text 14"/>
          <p:cNvSpPr/>
          <p:nvPr/>
        </p:nvSpPr>
        <p:spPr>
          <a:xfrm>
            <a:off x="5455920" y="2099314"/>
            <a:ext cx="133096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00000"/>
                </a:solidFill>
                <a:latin typeface="Public Sans" pitchFamily="34" charset="0"/>
                <a:ea typeface="Public Sans" pitchFamily="34" charset="-122"/>
                <a:cs typeface="Public Sans" pitchFamily="34" charset="-120"/>
              </a:rPr>
              <a:t>03</a:t>
            </a:r>
            <a:endParaRPr lang="en-US" sz="2000" dirty="0"/>
          </a:p>
        </p:txBody>
      </p:sp>
      <p:sp>
        <p:nvSpPr>
          <p:cNvPr id="20" name="Text 15"/>
          <p:cNvSpPr/>
          <p:nvPr/>
        </p:nvSpPr>
        <p:spPr>
          <a:xfrm>
            <a:off x="5455920" y="2531114"/>
            <a:ext cx="13309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00"/>
                </a:solidFill>
                <a:latin typeface="Public Sans" pitchFamily="34" charset="0"/>
                <a:ea typeface="Public Sans" pitchFamily="34" charset="-122"/>
                <a:cs typeface="Public Sans" pitchFamily="34" charset="-120"/>
              </a:rPr>
              <a:t>Method</a:t>
            </a:r>
            <a:endParaRPr lang="en-US" sz="1500" dirty="0"/>
          </a:p>
        </p:txBody>
      </p:sp>
      <p:sp>
        <p:nvSpPr>
          <p:cNvPr id="21" name="Text 16"/>
          <p:cNvSpPr/>
          <p:nvPr/>
        </p:nvSpPr>
        <p:spPr>
          <a:xfrm>
            <a:off x="5455920" y="2835914"/>
            <a:ext cx="1330960" cy="467360"/>
          </a:xfrm>
          <a:prstGeom prst="rect">
            <a:avLst/>
          </a:prstGeom>
          <a:noFill/>
          <a:ln/>
        </p:spPr>
        <p:txBody>
          <a:bodyPr wrap="square" lIns="0" tIns="0" rIns="0" bIns="0" rtlCol="0" anchor="t">
            <a:normAutofit/>
          </a:bodyPr>
          <a:lstStyle/>
          <a:p>
            <a:pPr marL="0" indent="0" algn="l">
              <a:lnSpc>
                <a:spcPts val="1740"/>
              </a:lnSpc>
              <a:spcAft>
                <a:spcPts val="300"/>
              </a:spcAft>
              <a:buNone/>
            </a:pPr>
            <a:r>
              <a:rPr sz="1000"/>
              <a:t>Custom CNN</a:t>
            </a:r>
            <a:endParaRPr lang="en-US" sz="1200" dirty="0"/>
          </a:p>
          <a:p>
            <a:pPr>
              <a:spcAft>
                <a:spcPts val="300"/>
              </a:spcAft>
            </a:pPr>
            <a:r>
              <a:rPr sz="1000"/>
              <a:t>EfficientNet-B0</a:t>
            </a:r>
          </a:p>
        </p:txBody>
      </p:sp>
      <p:pic>
        <p:nvPicPr>
          <p:cNvPr id="22" name="Image 3" descr="arrow-right"/>
          <p:cNvPicPr>
            <a:picLocks noChangeAspect="1"/>
          </p:cNvPicPr>
          <p:nvPr/>
        </p:nvPicPr>
        <p:blipFill>
          <a:blip r:embed="rId4"/>
          <a:srcRect/>
          <a:stretch/>
        </p:blipFill>
        <p:spPr>
          <a:xfrm>
            <a:off x="7051040" y="2566671"/>
            <a:ext cx="304800" cy="203200"/>
          </a:xfrm>
          <a:prstGeom prst="rect">
            <a:avLst/>
          </a:prstGeom>
        </p:spPr>
      </p:pic>
      <p:sp>
        <p:nvSpPr>
          <p:cNvPr id="23" name="Shape 17"/>
          <p:cNvSpPr/>
          <p:nvPr/>
        </p:nvSpPr>
        <p:spPr>
          <a:xfrm>
            <a:off x="7457440" y="1845314"/>
            <a:ext cx="1706880" cy="1645920"/>
          </a:xfrm>
          <a:prstGeom prst="roundRect">
            <a:avLst>
              <a:gd name="adj" fmla="val 6173"/>
            </a:avLst>
          </a:prstGeom>
          <a:solidFill>
            <a:srgbClr val="FFFFFF"/>
          </a:solidFill>
          <a:ln/>
        </p:spPr>
        <p:txBody>
          <a:bodyPr/>
          <a:p/>
        </p:txBody>
      </p:sp>
      <p:sp>
        <p:nvSpPr>
          <p:cNvPr id="24" name="Shape 18"/>
          <p:cNvSpPr/>
          <p:nvPr/>
        </p:nvSpPr>
        <p:spPr>
          <a:xfrm>
            <a:off x="7457440" y="1845314"/>
            <a:ext cx="1706880" cy="1645920"/>
          </a:xfrm>
          <a:custGeom>
            <a:avLst/>
            <a:gdLst/>
            <a:ahLst/>
            <a:cxnLst/>
            <a:rect l="l" t="t" r="r" b="b"/>
            <a:pathLst>
              <a:path w="1706880" h="1645920">
                <a:moveTo>
                  <a:pt x="101600" y="0"/>
                </a:moveTo>
                <a:lnTo>
                  <a:pt x="1605280" y="0"/>
                </a:lnTo>
                <a:arcTo wR="101600" hR="101600" stAng="16200000" swAng="5400000"/>
                <a:lnTo>
                  <a:pt x="1706880" y="1544320"/>
                </a:lnTo>
                <a:arcTo wR="101600" hR="101600" stAng="0" swAng="5400000"/>
                <a:lnTo>
                  <a:pt x="101600" y="1645920"/>
                </a:lnTo>
                <a:arcTo wR="101600" hR="101600" stAng="5400000" swAng="5400000"/>
                <a:lnTo>
                  <a:pt x="0" y="101600"/>
                </a:lnTo>
                <a:arcTo wR="101600" hR="101600" stAng="10800000" swAng="5400000"/>
                <a:close/>
                <a:moveTo>
                  <a:pt x="101600" y="50800"/>
                </a:moveTo>
                <a:arcTo wR="88900" hR="50800" stAng="16200000" swAng="-5400000"/>
                <a:lnTo>
                  <a:pt x="12700" y="1544320"/>
                </a:lnTo>
                <a:arcTo wR="88900" hR="88900" stAng="10800000" swAng="-5400000"/>
                <a:lnTo>
                  <a:pt x="1605280" y="1633220"/>
                </a:lnTo>
                <a:arcTo wR="88900" hR="88900" stAng="5400000" swAng="-5400000"/>
                <a:lnTo>
                  <a:pt x="1694180" y="101600"/>
                </a:lnTo>
                <a:arcTo wR="88900" hR="50800" stAng="0" swAng="-5400000"/>
                <a:close/>
              </a:path>
            </a:pathLst>
          </a:custGeom>
          <a:solidFill>
            <a:srgbClr val="000000"/>
          </a:solidFill>
          <a:ln/>
        </p:spPr>
        <p:txBody>
          <a:bodyPr/>
          <a:p/>
        </p:txBody>
      </p:sp>
      <p:sp>
        <p:nvSpPr>
          <p:cNvPr id="25" name="Text 19"/>
          <p:cNvSpPr/>
          <p:nvPr/>
        </p:nvSpPr>
        <p:spPr>
          <a:xfrm>
            <a:off x="7670800" y="2099314"/>
            <a:ext cx="133096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00000"/>
                </a:solidFill>
                <a:latin typeface="Public Sans" pitchFamily="34" charset="0"/>
                <a:ea typeface="Public Sans" pitchFamily="34" charset="-122"/>
                <a:cs typeface="Public Sans" pitchFamily="34" charset="-120"/>
              </a:rPr>
              <a:t>04</a:t>
            </a:r>
            <a:endParaRPr lang="en-US" sz="2000" dirty="0"/>
          </a:p>
        </p:txBody>
      </p:sp>
      <p:sp>
        <p:nvSpPr>
          <p:cNvPr id="26" name="Text 20"/>
          <p:cNvSpPr/>
          <p:nvPr/>
        </p:nvSpPr>
        <p:spPr>
          <a:xfrm>
            <a:off x="7670800" y="2531114"/>
            <a:ext cx="13309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00"/>
                </a:solidFill>
                <a:latin typeface="Public Sans" pitchFamily="34" charset="0"/>
                <a:ea typeface="Public Sans" pitchFamily="34" charset="-122"/>
                <a:cs typeface="Public Sans" pitchFamily="34" charset="-120"/>
              </a:rPr>
              <a:t>Evaluate</a:t>
            </a:r>
            <a:endParaRPr lang="en-US" sz="1500" dirty="0"/>
          </a:p>
        </p:txBody>
      </p:sp>
      <p:sp>
        <p:nvSpPr>
          <p:cNvPr id="27" name="Text 21"/>
          <p:cNvSpPr/>
          <p:nvPr/>
        </p:nvSpPr>
        <p:spPr>
          <a:xfrm>
            <a:off x="7670800" y="2835914"/>
            <a:ext cx="1330960" cy="246380"/>
          </a:xfrm>
          <a:prstGeom prst="rect">
            <a:avLst/>
          </a:prstGeom>
          <a:noFill/>
          <a:ln/>
        </p:spPr>
        <p:txBody>
          <a:bodyPr wrap="square" lIns="0" tIns="0" rIns="0" bIns="0" rtlCol="0" anchor="t">
            <a:normAutofit/>
          </a:bodyPr>
          <a:lstStyle/>
          <a:p>
            <a:pPr marL="0" indent="0" algn="l">
              <a:lnSpc>
                <a:spcPts val="1740"/>
              </a:lnSpc>
              <a:spcAft>
                <a:spcPts val="300"/>
              </a:spcAft>
              <a:buNone/>
            </a:pPr>
            <a:r>
              <a:rPr sz="1000"/>
              <a:t>Accuracy, macro F1</a:t>
            </a:r>
            <a:endParaRPr lang="en-US" sz="1200" dirty="0"/>
          </a:p>
          <a:p>
            <a:pPr>
              <a:spcAft>
                <a:spcPts val="300"/>
              </a:spcAft>
            </a:pPr>
            <a:r>
              <a:rPr sz="1000"/>
              <a:t>Recall, ROC-AUC</a:t>
            </a:r>
          </a:p>
        </p:txBody>
      </p:sp>
      <p:pic>
        <p:nvPicPr>
          <p:cNvPr id="28" name="Image 4" descr="arrow-right"/>
          <p:cNvPicPr>
            <a:picLocks noChangeAspect="1"/>
          </p:cNvPicPr>
          <p:nvPr/>
        </p:nvPicPr>
        <p:blipFill>
          <a:blip r:embed="rId4"/>
          <a:srcRect/>
          <a:stretch/>
        </p:blipFill>
        <p:spPr>
          <a:xfrm>
            <a:off x="9265920" y="2566671"/>
            <a:ext cx="304800" cy="203200"/>
          </a:xfrm>
          <a:prstGeom prst="rect">
            <a:avLst/>
          </a:prstGeom>
        </p:spPr>
      </p:pic>
      <p:sp>
        <p:nvSpPr>
          <p:cNvPr id="29" name="Shape 22"/>
          <p:cNvSpPr/>
          <p:nvPr/>
        </p:nvSpPr>
        <p:spPr>
          <a:xfrm>
            <a:off x="9672320" y="1845314"/>
            <a:ext cx="1706880" cy="1645920"/>
          </a:xfrm>
          <a:prstGeom prst="roundRect">
            <a:avLst>
              <a:gd name="adj" fmla="val 6173"/>
            </a:avLst>
          </a:prstGeom>
          <a:solidFill>
            <a:srgbClr val="FFFFFF"/>
          </a:solidFill>
          <a:ln/>
        </p:spPr>
        <p:txBody>
          <a:bodyPr/>
          <a:p/>
        </p:txBody>
      </p:sp>
      <p:sp>
        <p:nvSpPr>
          <p:cNvPr id="30" name="Shape 23"/>
          <p:cNvSpPr/>
          <p:nvPr/>
        </p:nvSpPr>
        <p:spPr>
          <a:xfrm>
            <a:off x="9672320" y="1845314"/>
            <a:ext cx="1706880" cy="1645920"/>
          </a:xfrm>
          <a:custGeom>
            <a:avLst/>
            <a:gdLst/>
            <a:ahLst/>
            <a:cxnLst/>
            <a:rect l="l" t="t" r="r" b="b"/>
            <a:pathLst>
              <a:path w="1706880" h="1645920">
                <a:moveTo>
                  <a:pt x="101600" y="0"/>
                </a:moveTo>
                <a:lnTo>
                  <a:pt x="1605280" y="0"/>
                </a:lnTo>
                <a:arcTo wR="101600" hR="101600" stAng="16200000" swAng="5400000"/>
                <a:lnTo>
                  <a:pt x="1706880" y="1544320"/>
                </a:lnTo>
                <a:arcTo wR="101600" hR="101600" stAng="0" swAng="5400000"/>
                <a:lnTo>
                  <a:pt x="101600" y="1645920"/>
                </a:lnTo>
                <a:arcTo wR="101600" hR="101600" stAng="5400000" swAng="5400000"/>
                <a:lnTo>
                  <a:pt x="0" y="101600"/>
                </a:lnTo>
                <a:arcTo wR="101600" hR="101600" stAng="10800000" swAng="5400000"/>
                <a:close/>
                <a:moveTo>
                  <a:pt x="101600" y="50800"/>
                </a:moveTo>
                <a:arcTo wR="88900" hR="50800" stAng="16200000" swAng="-5400000"/>
                <a:lnTo>
                  <a:pt x="12700" y="1544320"/>
                </a:lnTo>
                <a:arcTo wR="88900" hR="88900" stAng="10800000" swAng="-5400000"/>
                <a:lnTo>
                  <a:pt x="1605280" y="1633220"/>
                </a:lnTo>
                <a:arcTo wR="88900" hR="88900" stAng="5400000" swAng="-5400000"/>
                <a:lnTo>
                  <a:pt x="1694180" y="101600"/>
                </a:lnTo>
                <a:arcTo wR="88900" hR="50800" stAng="0" swAng="-5400000"/>
                <a:close/>
              </a:path>
            </a:pathLst>
          </a:custGeom>
          <a:solidFill>
            <a:srgbClr val="000000"/>
          </a:solidFill>
          <a:ln/>
        </p:spPr>
        <p:txBody>
          <a:bodyPr/>
          <a:p/>
        </p:txBody>
      </p:sp>
      <p:sp>
        <p:nvSpPr>
          <p:cNvPr id="31" name="Text 24"/>
          <p:cNvSpPr/>
          <p:nvPr/>
        </p:nvSpPr>
        <p:spPr>
          <a:xfrm>
            <a:off x="9885680" y="2099314"/>
            <a:ext cx="133096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00000"/>
                </a:solidFill>
                <a:latin typeface="Public Sans" pitchFamily="34" charset="0"/>
                <a:ea typeface="Public Sans" pitchFamily="34" charset="-122"/>
                <a:cs typeface="Public Sans" pitchFamily="34" charset="-120"/>
              </a:rPr>
              <a:t>05</a:t>
            </a:r>
            <a:endParaRPr lang="en-US" sz="2000" dirty="0"/>
          </a:p>
        </p:txBody>
      </p:sp>
      <p:sp>
        <p:nvSpPr>
          <p:cNvPr id="32" name="Text 25"/>
          <p:cNvSpPr/>
          <p:nvPr/>
        </p:nvSpPr>
        <p:spPr>
          <a:xfrm>
            <a:off x="9885680" y="2531114"/>
            <a:ext cx="13309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00"/>
                </a:solidFill>
                <a:latin typeface="Public Sans" pitchFamily="34" charset="0"/>
                <a:ea typeface="Public Sans" pitchFamily="34" charset="-122"/>
                <a:cs typeface="Public Sans" pitchFamily="34" charset="-120"/>
              </a:rPr>
              <a:t>Output</a:t>
            </a:r>
            <a:endParaRPr lang="en-US" sz="1500" dirty="0"/>
          </a:p>
        </p:txBody>
      </p:sp>
      <p:sp>
        <p:nvSpPr>
          <p:cNvPr id="33" name="Text 26"/>
          <p:cNvSpPr/>
          <p:nvPr/>
        </p:nvSpPr>
        <p:spPr>
          <a:xfrm>
            <a:off x="9885680" y="2835914"/>
            <a:ext cx="1330960" cy="467360"/>
          </a:xfrm>
          <a:prstGeom prst="rect">
            <a:avLst/>
          </a:prstGeom>
          <a:noFill/>
          <a:ln/>
        </p:spPr>
        <p:txBody>
          <a:bodyPr wrap="square" lIns="0" tIns="0" rIns="0" bIns="0" rtlCol="0" anchor="t">
            <a:normAutofit/>
          </a:bodyPr>
          <a:lstStyle/>
          <a:p>
            <a:pPr marL="0" indent="0" algn="l">
              <a:lnSpc>
                <a:spcPts val="1740"/>
              </a:lnSpc>
              <a:spcAft>
                <a:spcPts val="300"/>
              </a:spcAft>
              <a:buNone/>
            </a:pPr>
            <a:r>
              <a:rPr sz="1000"/>
              <a:t>Prediction + Grad-CAM</a:t>
            </a:r>
            <a:endParaRPr lang="en-US" sz="1200" dirty="0"/>
          </a:p>
          <a:p>
            <a:pPr>
              <a:spcAft>
                <a:spcPts val="300"/>
              </a:spcAft>
            </a:pPr>
            <a:r>
              <a:rPr sz="1000"/>
              <a:t>Streamlit app</a:t>
            </a:r>
          </a:p>
        </p:txBody>
      </p:sp>
      <p:sp>
        <p:nvSpPr>
          <p:cNvPr id="34" name="Text 27"/>
          <p:cNvSpPr/>
          <p:nvPr/>
        </p:nvSpPr>
        <p:spPr>
          <a:xfrm>
            <a:off x="812800" y="3796029"/>
            <a:ext cx="10883392" cy="273050"/>
          </a:xfrm>
          <a:prstGeom prst="rect">
            <a:avLst/>
          </a:prstGeom>
          <a:noFill/>
          <a:ln/>
        </p:spPr>
        <p:txBody>
          <a:bodyPr wrap="square" lIns="0" tIns="0" rIns="0" bIns="0" rtlCol="0" anchor="t">
            <a:normAutofit/>
          </a:bodyPr>
          <a:lstStyle/>
          <a:p>
            <a:pPr marL="0" indent="0" algn="l">
              <a:lnSpc>
                <a:spcPts val="1950"/>
              </a:lnSpc>
              <a:spcAft>
                <a:spcPts val="300"/>
              </a:spcAft>
              <a:buNone/>
            </a:pPr>
            <a:r>
              <a:rPr sz="1000"/>
              <a:t>Technique: CNN baseline vs. ImageNet-pretrained EfficientNet-B0. Dataset in archive: 7,200 images (5,600 train-folder; 1,600 test-folder); source details should be cited from the dataset page in the final report.</a:t>
            </a:r>
            <a:endParaRPr lang="en-US" sz="1300" dirty="0"/>
          </a:p>
        </p:txBody>
      </p:sp>
      <p:sp>
        <p:nvSpPr>
          <p:cNvPr id="35" name="Text 28"/>
          <p:cNvSpPr/>
          <p:nvPr/>
        </p:nvSpPr>
        <p:spPr>
          <a:xfrm>
            <a:off x="812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Public Sans" pitchFamily="34" charset="0"/>
                <a:ea typeface="Public Sans" pitchFamily="34" charset="-122"/>
                <a:cs typeface="Public Sans" pitchFamily="34" charset="-120"/>
              </a:rPr>
              <a:t>The Apollo University · Dept. of CSE (AI &amp; DS) · Mini Project Review [II]</a:t>
            </a:r>
            <a:endParaRPr lang="en-US" sz="1200" dirty="0"/>
          </a:p>
        </p:txBody>
      </p:sp>
      <p:sp>
        <p:nvSpPr>
          <p:cNvPr id="36" name="Text 29"/>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Public Sans" pitchFamily="34" charset="0"/>
                <a:ea typeface="Public Sans" pitchFamily="34" charset="-122"/>
                <a:cs typeface="Public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The Apollo University logo"/>
          <p:cNvPicPr>
            <a:picLocks noChangeAspect="1"/>
          </p:cNvPicPr>
          <p:nvPr/>
        </p:nvPicPr>
        <p:blipFill>
          <a:blip r:embed="rId3"/>
          <a:srcRect l="-12500" r="-12500"/>
          <a:stretch/>
        </p:blipFill>
        <p:spPr>
          <a:xfrm>
            <a:off x="10426700" y="609600"/>
            <a:ext cx="952500" cy="762000"/>
          </a:xfrm>
          <a:prstGeom prst="rect">
            <a:avLst/>
          </a:prstGeom>
        </p:spPr>
      </p:pic>
      <p:sp>
        <p:nvSpPr>
          <p:cNvPr id="3" name="Text 0"/>
          <p:cNvSpPr/>
          <p:nvPr/>
        </p:nvSpPr>
        <p:spPr>
          <a:xfrm>
            <a:off x="812800" y="812800"/>
            <a:ext cx="941832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Public Sans" pitchFamily="34" charset="0"/>
                <a:ea typeface="Public Sans" pitchFamily="34" charset="-122"/>
                <a:cs typeface="Public Sans" pitchFamily="34" charset="-120"/>
              </a:rPr>
              <a:t>REVIEW II · MODULES</a:t>
            </a:r>
            <a:endParaRPr lang="en-US" sz="1200" dirty="0"/>
          </a:p>
        </p:txBody>
      </p:sp>
      <p:sp>
        <p:nvSpPr>
          <p:cNvPr id="4" name="Text 1"/>
          <p:cNvSpPr>
            <a:spLocks noGrp="1"/>
          </p:cNvSpPr>
          <p:nvPr>
            <p:ph type="title"/>
          </p:nvPr>
        </p:nvSpPr>
        <p:spPr>
          <a:xfrm>
            <a:off x="812800" y="1102364"/>
            <a:ext cx="941832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00000"/>
                </a:solidFill>
                <a:latin typeface="Libre Baskerville" pitchFamily="18" charset="0"/>
                <a:ea typeface="Libre Baskerville" pitchFamily="18" charset="-122"/>
                <a:cs typeface="Libre Baskerville" pitchFamily="18" charset="-120"/>
              </a:rPr>
              <a:t>Module description</a:t>
            </a:r>
            <a:endParaRPr lang="en-US" sz="3000" dirty="0"/>
          </a:p>
        </p:txBody>
      </p:sp>
      <p:sp>
        <p:nvSpPr>
          <p:cNvPr id="5" name="Shape 2"/>
          <p:cNvSpPr/>
          <p:nvPr/>
        </p:nvSpPr>
        <p:spPr>
          <a:xfrm>
            <a:off x="819150" y="1800864"/>
            <a:ext cx="3373914" cy="2040890"/>
          </a:xfrm>
          <a:prstGeom prst="roundRect">
            <a:avLst>
              <a:gd name="adj" fmla="val 5912"/>
            </a:avLst>
          </a:prstGeom>
          <a:solidFill>
            <a:srgbClr val="FFFFFF"/>
          </a:solidFill>
          <a:ln w="12700">
            <a:solidFill>
              <a:srgbClr val="000000"/>
            </a:solidFill>
            <a:prstDash val="solid"/>
          </a:ln>
        </p:spPr>
        <p:txBody>
          <a:bodyPr/>
          <a:p/>
        </p:txBody>
      </p:sp>
      <p:sp>
        <p:nvSpPr>
          <p:cNvPr id="6" name="Text 3"/>
          <p:cNvSpPr/>
          <p:nvPr/>
        </p:nvSpPr>
        <p:spPr>
          <a:xfrm>
            <a:off x="1076960" y="2058671"/>
            <a:ext cx="2944043" cy="269240"/>
          </a:xfrm>
          <a:prstGeom prst="rect">
            <a:avLst/>
          </a:prstGeom>
          <a:noFill/>
          <a:ln/>
        </p:spPr>
        <p:txBody>
          <a:bodyPr wrap="square" lIns="0" tIns="0" rIns="0" bIns="0" rtlCol="0" anchor="t">
            <a:normAutofit/>
          </a:bodyPr>
          <a:lstStyle/>
          <a:p>
            <a:pPr marL="0" indent="0" algn="l">
              <a:lnSpc>
                <a:spcPts val="1920"/>
              </a:lnSpc>
              <a:spcAft>
                <a:spcPts val="300"/>
              </a:spcAft>
              <a:buNone/>
            </a:pPr>
            <a:r>
              <a:rPr sz="1300"/>
              <a:t>Module 1: Data Preprocessing</a:t>
            </a:r>
            <a:endParaRPr lang="en-US" sz="1600" dirty="0"/>
          </a:p>
        </p:txBody>
      </p:sp>
      <p:sp>
        <p:nvSpPr>
          <p:cNvPr id="7" name="Text 4"/>
          <p:cNvSpPr/>
          <p:nvPr/>
        </p:nvSpPr>
        <p:spPr>
          <a:xfrm>
            <a:off x="1076960" y="2404114"/>
            <a:ext cx="2944043" cy="768350"/>
          </a:xfrm>
          <a:prstGeom prst="rect">
            <a:avLst/>
          </a:prstGeom>
          <a:noFill/>
          <a:ln/>
        </p:spPr>
        <p:txBody>
          <a:bodyPr wrap="square" lIns="0" tIns="0" rIns="0" bIns="0" rtlCol="0" anchor="t">
            <a:normAutofit/>
          </a:bodyPr>
          <a:lstStyle/>
          <a:p>
            <a:pPr marL="0" indent="0" algn="l">
              <a:lnSpc>
                <a:spcPts val="1950"/>
              </a:lnSpc>
              <a:spcAft>
                <a:spcPts val="300"/>
              </a:spcAft>
              <a:buNone/>
            </a:pPr>
            <a:r>
              <a:rPr sz="1100"/>
              <a:t>Input: MRI image folders</a:t>
            </a:r>
            <a:endParaRPr lang="en-US" sz="1300" dirty="0"/>
          </a:p>
          <a:p>
            <a:pPr>
              <a:spcAft>
                <a:spcPts val="300"/>
              </a:spcAft>
            </a:pPr>
            <a:r>
              <a:rPr sz="1100"/>
              <a:t>Process: Load, label, RGB, resize</a:t>
            </a:r>
          </a:p>
          <a:p>
            <a:pPr>
              <a:spcAft>
                <a:spcPts val="300"/>
              </a:spcAft>
            </a:pPr>
            <a:r>
              <a:rPr sz="1100"/>
              <a:t>Output: Model-ready images</a:t>
            </a:r>
          </a:p>
        </p:txBody>
      </p:sp>
      <p:sp>
        <p:nvSpPr>
          <p:cNvPr id="8" name="Text 5"/>
          <p:cNvSpPr/>
          <p:nvPr/>
        </p:nvSpPr>
        <p:spPr>
          <a:xfrm>
            <a:off x="1083310" y="3255014"/>
            <a:ext cx="1831102" cy="322580"/>
          </a:xfrm>
          <a:prstGeom prst="roundRect">
            <a:avLst>
              <a:gd name="adj" fmla="val 50000"/>
            </a:avLst>
          </a:prstGeom>
          <a:solidFill>
            <a:srgbClr val="FFFFFF"/>
          </a:solidFill>
          <a:ln w="12700">
            <a:solidFill>
              <a:srgbClr val="000000"/>
            </a:solidFill>
            <a:prstDash val="solid"/>
          </a:ln>
        </p:spPr>
        <p:txBody>
          <a:bodyPr wrap="none" lIns="0" tIns="0" rIns="0" bIns="0" rtlCol="0" anchor="ctr">
            <a:normAutofit/>
          </a:bodyPr>
          <a:lstStyle/>
          <a:p>
            <a:pPr marL="0" indent="0" algn="ctr">
              <a:lnSpc>
                <a:spcPts val="1680"/>
              </a:lnSpc>
              <a:spcAft>
                <a:spcPts val="300"/>
              </a:spcAft>
              <a:buNone/>
            </a:pPr>
            <a:r>
              <a:rPr sz="900"/>
              <a:t>Owner: Project team</a:t>
            </a:r>
            <a:endParaRPr lang="en-US" sz="1200" dirty="0"/>
          </a:p>
        </p:txBody>
      </p:sp>
      <p:sp>
        <p:nvSpPr>
          <p:cNvPr id="9" name="Shape 6"/>
          <p:cNvSpPr/>
          <p:nvPr/>
        </p:nvSpPr>
        <p:spPr>
          <a:xfrm>
            <a:off x="4408964" y="1800864"/>
            <a:ext cx="3373993" cy="2040890"/>
          </a:xfrm>
          <a:prstGeom prst="roundRect">
            <a:avLst>
              <a:gd name="adj" fmla="val 5912"/>
            </a:avLst>
          </a:prstGeom>
          <a:solidFill>
            <a:srgbClr val="FFFFFF"/>
          </a:solidFill>
          <a:ln w="12700">
            <a:solidFill>
              <a:srgbClr val="000000"/>
            </a:solidFill>
            <a:prstDash val="solid"/>
          </a:ln>
        </p:spPr>
        <p:txBody>
          <a:bodyPr/>
          <a:p/>
        </p:txBody>
      </p:sp>
      <p:sp>
        <p:nvSpPr>
          <p:cNvPr id="10" name="Text 7"/>
          <p:cNvSpPr/>
          <p:nvPr/>
        </p:nvSpPr>
        <p:spPr>
          <a:xfrm>
            <a:off x="4666774" y="2058671"/>
            <a:ext cx="2944124" cy="269240"/>
          </a:xfrm>
          <a:prstGeom prst="rect">
            <a:avLst/>
          </a:prstGeom>
          <a:noFill/>
          <a:ln/>
        </p:spPr>
        <p:txBody>
          <a:bodyPr wrap="square" lIns="0" tIns="0" rIns="0" bIns="0" rtlCol="0" anchor="t">
            <a:normAutofit/>
          </a:bodyPr>
          <a:lstStyle/>
          <a:p>
            <a:pPr marL="0" indent="0" algn="l">
              <a:lnSpc>
                <a:spcPts val="1920"/>
              </a:lnSpc>
              <a:spcAft>
                <a:spcPts val="300"/>
              </a:spcAft>
              <a:buNone/>
            </a:pPr>
            <a:r>
              <a:rPr sz="1300"/>
              <a:t>Module 2: Model Training &amp; Evaluation</a:t>
            </a:r>
            <a:endParaRPr lang="en-US" sz="1600" dirty="0"/>
          </a:p>
        </p:txBody>
      </p:sp>
      <p:sp>
        <p:nvSpPr>
          <p:cNvPr id="11" name="Text 8"/>
          <p:cNvSpPr/>
          <p:nvPr/>
        </p:nvSpPr>
        <p:spPr>
          <a:xfrm>
            <a:off x="4666774" y="2404114"/>
            <a:ext cx="2944124" cy="768350"/>
          </a:xfrm>
          <a:prstGeom prst="rect">
            <a:avLst/>
          </a:prstGeom>
          <a:noFill/>
          <a:ln/>
        </p:spPr>
        <p:txBody>
          <a:bodyPr wrap="square" lIns="0" tIns="0" rIns="0" bIns="0" rtlCol="0" anchor="t">
            <a:normAutofit/>
          </a:bodyPr>
          <a:lstStyle/>
          <a:p>
            <a:pPr marL="0" indent="0" algn="l">
              <a:lnSpc>
                <a:spcPts val="1950"/>
              </a:lnSpc>
              <a:spcAft>
                <a:spcPts val="300"/>
              </a:spcAft>
              <a:buNone/>
            </a:pPr>
            <a:r>
              <a:rPr sz="1100"/>
              <a:t>Input: Prepared images</a:t>
            </a:r>
            <a:endParaRPr lang="en-US" sz="1300" dirty="0"/>
          </a:p>
          <a:p>
            <a:pPr>
              <a:spcAft>
                <a:spcPts val="300"/>
              </a:spcAft>
            </a:pPr>
            <a:r>
              <a:rPr sz="1100"/>
              <a:t>Process: Train CNN / EfficientNet</a:t>
            </a:r>
          </a:p>
          <a:p>
            <a:pPr>
              <a:spcAft>
                <a:spcPts val="300"/>
              </a:spcAft>
            </a:pPr>
            <a:r>
              <a:rPr sz="1100"/>
              <a:t>Output: Checkpoints and metrics</a:t>
            </a:r>
          </a:p>
        </p:txBody>
      </p:sp>
      <p:sp>
        <p:nvSpPr>
          <p:cNvPr id="12" name="Text 9"/>
          <p:cNvSpPr/>
          <p:nvPr/>
        </p:nvSpPr>
        <p:spPr>
          <a:xfrm>
            <a:off x="4673124" y="3255014"/>
            <a:ext cx="1831102" cy="322580"/>
          </a:xfrm>
          <a:prstGeom prst="roundRect">
            <a:avLst>
              <a:gd name="adj" fmla="val 50000"/>
            </a:avLst>
          </a:prstGeom>
          <a:solidFill>
            <a:srgbClr val="FFFFFF"/>
          </a:solidFill>
          <a:ln w="12700">
            <a:solidFill>
              <a:srgbClr val="000000"/>
            </a:solidFill>
            <a:prstDash val="solid"/>
          </a:ln>
        </p:spPr>
        <p:txBody>
          <a:bodyPr wrap="none" lIns="0" tIns="0" rIns="0" bIns="0" rtlCol="0" anchor="ctr">
            <a:normAutofit/>
          </a:bodyPr>
          <a:lstStyle/>
          <a:p>
            <a:pPr marL="0" indent="0" algn="ctr">
              <a:lnSpc>
                <a:spcPts val="1680"/>
              </a:lnSpc>
              <a:spcAft>
                <a:spcPts val="300"/>
              </a:spcAft>
              <a:buNone/>
            </a:pPr>
            <a:r>
              <a:rPr sz="900"/>
              <a:t>Owner: Project team</a:t>
            </a:r>
            <a:endParaRPr lang="en-US" sz="1200" dirty="0"/>
          </a:p>
        </p:txBody>
      </p:sp>
      <p:sp>
        <p:nvSpPr>
          <p:cNvPr id="13" name="Shape 10"/>
          <p:cNvSpPr/>
          <p:nvPr/>
        </p:nvSpPr>
        <p:spPr>
          <a:xfrm>
            <a:off x="7998857" y="1800864"/>
            <a:ext cx="3373993" cy="2040890"/>
          </a:xfrm>
          <a:prstGeom prst="roundRect">
            <a:avLst>
              <a:gd name="adj" fmla="val 5912"/>
            </a:avLst>
          </a:prstGeom>
          <a:solidFill>
            <a:srgbClr val="FFFFFF"/>
          </a:solidFill>
          <a:ln w="12700">
            <a:solidFill>
              <a:srgbClr val="000000"/>
            </a:solidFill>
            <a:prstDash val="solid"/>
          </a:ln>
        </p:spPr>
        <p:txBody>
          <a:bodyPr/>
          <a:p/>
        </p:txBody>
      </p:sp>
      <p:sp>
        <p:nvSpPr>
          <p:cNvPr id="14" name="Text 11"/>
          <p:cNvSpPr/>
          <p:nvPr/>
        </p:nvSpPr>
        <p:spPr>
          <a:xfrm>
            <a:off x="8256667" y="2058671"/>
            <a:ext cx="2944124" cy="269240"/>
          </a:xfrm>
          <a:prstGeom prst="rect">
            <a:avLst/>
          </a:prstGeom>
          <a:noFill/>
          <a:ln/>
        </p:spPr>
        <p:txBody>
          <a:bodyPr wrap="square" lIns="0" tIns="0" rIns="0" bIns="0" rtlCol="0" anchor="t">
            <a:normAutofit/>
          </a:bodyPr>
          <a:lstStyle/>
          <a:p>
            <a:pPr marL="0" indent="0" algn="l">
              <a:lnSpc>
                <a:spcPts val="1920"/>
              </a:lnSpc>
              <a:spcAft>
                <a:spcPts val="300"/>
              </a:spcAft>
              <a:buNone/>
            </a:pPr>
            <a:r>
              <a:rPr sz="1300"/>
              <a:t>Module 3: Explainable Prediction App</a:t>
            </a:r>
            <a:endParaRPr lang="en-US" sz="1600" dirty="0"/>
          </a:p>
        </p:txBody>
      </p:sp>
      <p:sp>
        <p:nvSpPr>
          <p:cNvPr id="15" name="Text 12"/>
          <p:cNvSpPr/>
          <p:nvPr/>
        </p:nvSpPr>
        <p:spPr>
          <a:xfrm>
            <a:off x="8256667" y="2404114"/>
            <a:ext cx="2944124" cy="768350"/>
          </a:xfrm>
          <a:prstGeom prst="rect">
            <a:avLst/>
          </a:prstGeom>
          <a:noFill/>
          <a:ln/>
        </p:spPr>
        <p:txBody>
          <a:bodyPr wrap="square" lIns="0" tIns="0" rIns="0" bIns="0" rtlCol="0" anchor="t">
            <a:normAutofit/>
          </a:bodyPr>
          <a:lstStyle/>
          <a:p>
            <a:pPr marL="0" indent="0" algn="l">
              <a:lnSpc>
                <a:spcPts val="1950"/>
              </a:lnSpc>
              <a:spcAft>
                <a:spcPts val="300"/>
              </a:spcAft>
              <a:buNone/>
            </a:pPr>
            <a:r>
              <a:rPr sz="1100"/>
              <a:t>Input: Uploaded MRI image</a:t>
            </a:r>
            <a:endParaRPr lang="en-US" sz="1300" dirty="0"/>
          </a:p>
          <a:p>
            <a:pPr>
              <a:spcAft>
                <a:spcPts val="300"/>
              </a:spcAft>
            </a:pPr>
            <a:r>
              <a:rPr sz="1100"/>
              <a:t>Process: Predict class + Grad-CAM</a:t>
            </a:r>
          </a:p>
          <a:p>
            <a:pPr>
              <a:spcAft>
                <a:spcPts val="300"/>
              </a:spcAft>
            </a:pPr>
            <a:r>
              <a:rPr sz="1100"/>
              <a:t>Output: Class score and heatmap</a:t>
            </a:r>
          </a:p>
        </p:txBody>
      </p:sp>
      <p:sp>
        <p:nvSpPr>
          <p:cNvPr id="16" name="Text 13"/>
          <p:cNvSpPr/>
          <p:nvPr/>
        </p:nvSpPr>
        <p:spPr>
          <a:xfrm>
            <a:off x="8263017" y="3255014"/>
            <a:ext cx="1831102" cy="322580"/>
          </a:xfrm>
          <a:prstGeom prst="roundRect">
            <a:avLst>
              <a:gd name="adj" fmla="val 50000"/>
            </a:avLst>
          </a:prstGeom>
          <a:solidFill>
            <a:srgbClr val="FFFFFF"/>
          </a:solidFill>
          <a:ln w="12700">
            <a:solidFill>
              <a:srgbClr val="000000"/>
            </a:solidFill>
            <a:prstDash val="solid"/>
          </a:ln>
        </p:spPr>
        <p:txBody>
          <a:bodyPr wrap="none" lIns="0" tIns="0" rIns="0" bIns="0" rtlCol="0" anchor="ctr">
            <a:normAutofit/>
          </a:bodyPr>
          <a:lstStyle/>
          <a:p>
            <a:pPr marL="0" indent="0" algn="ctr">
              <a:lnSpc>
                <a:spcPts val="1680"/>
              </a:lnSpc>
              <a:spcAft>
                <a:spcPts val="300"/>
              </a:spcAft>
              <a:buNone/>
            </a:pPr>
            <a:r>
              <a:rPr sz="900"/>
              <a:t>Owner: Project team</a:t>
            </a:r>
            <a:endParaRPr lang="en-US" sz="1200" dirty="0"/>
          </a:p>
        </p:txBody>
      </p:sp>
      <p:sp>
        <p:nvSpPr>
          <p:cNvPr id="17" name="Text 14"/>
          <p:cNvSpPr/>
          <p:nvPr/>
        </p:nvSpPr>
        <p:spPr>
          <a:xfrm>
            <a:off x="812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Public Sans" pitchFamily="34" charset="0"/>
                <a:ea typeface="Public Sans" pitchFamily="34" charset="-122"/>
                <a:cs typeface="Public Sans" pitchFamily="34" charset="-120"/>
              </a:rPr>
              <a:t>The Apollo University · Dept. of CSE (AI &amp; DS) · Mini Project Review [II]</a:t>
            </a:r>
            <a:endParaRPr lang="en-US" sz="1200" dirty="0"/>
          </a:p>
        </p:txBody>
      </p:sp>
      <p:sp>
        <p:nvSpPr>
          <p:cNvPr id="18" name="Text 15"/>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Public Sans" pitchFamily="34" charset="0"/>
                <a:ea typeface="Public Sans" pitchFamily="34" charset="-122"/>
                <a:cs typeface="Public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The Apollo University logo"/>
          <p:cNvPicPr>
            <a:picLocks noChangeAspect="1"/>
          </p:cNvPicPr>
          <p:nvPr/>
        </p:nvPicPr>
        <p:blipFill>
          <a:blip r:embed="rId3"/>
          <a:srcRect l="-12500" r="-12500"/>
          <a:stretch/>
        </p:blipFill>
        <p:spPr>
          <a:xfrm>
            <a:off x="10426700" y="609600"/>
            <a:ext cx="952500" cy="762000"/>
          </a:xfrm>
          <a:prstGeom prst="rect">
            <a:avLst/>
          </a:prstGeom>
        </p:spPr>
      </p:pic>
      <p:sp>
        <p:nvSpPr>
          <p:cNvPr id="3" name="Text 0"/>
          <p:cNvSpPr/>
          <p:nvPr/>
        </p:nvSpPr>
        <p:spPr>
          <a:xfrm>
            <a:off x="812800" y="812800"/>
            <a:ext cx="941832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Public Sans" pitchFamily="34" charset="0"/>
                <a:ea typeface="Public Sans" pitchFamily="34" charset="-122"/>
                <a:cs typeface="Public Sans" pitchFamily="34" charset="-120"/>
              </a:rPr>
              <a:t>REVIEW II · WORK PLAN</a:t>
            </a:r>
            <a:endParaRPr lang="en-US" sz="1200" dirty="0"/>
          </a:p>
        </p:txBody>
      </p:sp>
      <p:sp>
        <p:nvSpPr>
          <p:cNvPr id="4" name="Text 1"/>
          <p:cNvSpPr>
            <a:spLocks noGrp="1"/>
          </p:cNvSpPr>
          <p:nvPr>
            <p:ph type="title"/>
          </p:nvPr>
        </p:nvSpPr>
        <p:spPr>
          <a:xfrm>
            <a:off x="812800" y="1102364"/>
            <a:ext cx="941832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00000"/>
                </a:solidFill>
                <a:latin typeface="Libre Baskerville" pitchFamily="18" charset="0"/>
                <a:ea typeface="Libre Baskerville" pitchFamily="18" charset="-122"/>
                <a:cs typeface="Libre Baskerville" pitchFamily="18" charset="-120"/>
              </a:rPr>
              <a:t>Work plan and progress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779274"/>
          <a:ext cx="10556242" cy="2311400"/>
        </p:xfrm>
        <a:graphic>
          <a:graphicData uri="http://schemas.openxmlformats.org/drawingml/2006/table">
            <a:tbl>
              <a:tblPr/>
              <a:tblGrid>
                <a:gridCol w="2955747">
                  <a:extLst>
                    <a:ext uri="{9D8B030D-6E8A-4147-A177-3AD203B41FA5}">
                      <a16:colId xmlns:a16="http://schemas.microsoft.com/office/drawing/2014/main" val="20000"/>
                    </a:ext>
                  </a:extLst>
                </a:gridCol>
                <a:gridCol w="950062">
                  <a:extLst>
                    <a:ext uri="{9D8B030D-6E8A-4147-A177-3AD203B41FA5}">
                      <a16:colId xmlns:a16="http://schemas.microsoft.com/office/drawing/2014/main" val="20001"/>
                    </a:ext>
                  </a:extLst>
                </a:gridCol>
                <a:gridCol w="950062">
                  <a:extLst>
                    <a:ext uri="{9D8B030D-6E8A-4147-A177-3AD203B41FA5}">
                      <a16:colId xmlns:a16="http://schemas.microsoft.com/office/drawing/2014/main" val="20002"/>
                    </a:ext>
                  </a:extLst>
                </a:gridCol>
                <a:gridCol w="950062">
                  <a:extLst>
                    <a:ext uri="{9D8B030D-6E8A-4147-A177-3AD203B41FA5}">
                      <a16:colId xmlns:a16="http://schemas.microsoft.com/office/drawing/2014/main" val="20003"/>
                    </a:ext>
                  </a:extLst>
                </a:gridCol>
                <a:gridCol w="950062">
                  <a:extLst>
                    <a:ext uri="{9D8B030D-6E8A-4147-A177-3AD203B41FA5}">
                      <a16:colId xmlns:a16="http://schemas.microsoft.com/office/drawing/2014/main" val="20004"/>
                    </a:ext>
                  </a:extLst>
                </a:gridCol>
                <a:gridCol w="950062">
                  <a:extLst>
                    <a:ext uri="{9D8B030D-6E8A-4147-A177-3AD203B41FA5}">
                      <a16:colId xmlns:a16="http://schemas.microsoft.com/office/drawing/2014/main" val="20005"/>
                    </a:ext>
                  </a:extLst>
                </a:gridCol>
                <a:gridCol w="950062">
                  <a:extLst>
                    <a:ext uri="{9D8B030D-6E8A-4147-A177-3AD203B41FA5}">
                      <a16:colId xmlns:a16="http://schemas.microsoft.com/office/drawing/2014/main" val="20006"/>
                    </a:ext>
                  </a:extLst>
                </a:gridCol>
                <a:gridCol w="1900123">
                  <a:extLst>
                    <a:ext uri="{9D8B030D-6E8A-4147-A177-3AD203B41FA5}">
                      <a16:colId xmlns:a16="http://schemas.microsoft.com/office/drawing/2014/main" val="20007"/>
                    </a:ext>
                  </a:extLst>
                </a:gridCol>
              </a:tblGrid>
              <a:tr h="330200">
                <a:tc>
                  <a:txBody>
                    <a:bodyPr/>
                    <a:lstStyle/>
                    <a:p>
                      <a:pPr marL="0" indent="0">
                        <a:lnSpc>
                          <a:spcPts val="1680"/>
                        </a:lnSpc>
                        <a:buNone/>
                      </a:pPr>
                      <a:r>
                        <a:rPr lang="en-US" sz="1200" b="1" dirty="0">
                          <a:solidFill>
                            <a:srgbClr val="000000"/>
                          </a:solidFill>
                          <a:latin typeface="Public Sans" pitchFamily="34" charset="0"/>
                          <a:ea typeface="Public Sans" pitchFamily="34" charset="-122"/>
                          <a:cs typeface="Public Sans" pitchFamily="34" charset="-120"/>
                        </a:rPr>
                        <a:t>Activity</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r>
                        <a:rPr lang="en-US" sz="1200" b="1" dirty="0">
                          <a:solidFill>
                            <a:srgbClr val="000000"/>
                          </a:solidFill>
                          <a:latin typeface="Public Sans" pitchFamily="34" charset="0"/>
                          <a:ea typeface="Public Sans" pitchFamily="34" charset="-122"/>
                          <a:cs typeface="Public Sans" pitchFamily="34" charset="-120"/>
                        </a:rPr>
                        <a:t>W1–2</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r>
                        <a:rPr lang="en-US" sz="1200" b="1" dirty="0">
                          <a:solidFill>
                            <a:srgbClr val="000000"/>
                          </a:solidFill>
                          <a:latin typeface="Public Sans" pitchFamily="34" charset="0"/>
                          <a:ea typeface="Public Sans" pitchFamily="34" charset="-122"/>
                          <a:cs typeface="Public Sans" pitchFamily="34" charset="-120"/>
                        </a:rPr>
                        <a:t>W3–4</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r>
                        <a:rPr lang="en-US" sz="1200" b="1" dirty="0">
                          <a:solidFill>
                            <a:srgbClr val="000000"/>
                          </a:solidFill>
                          <a:latin typeface="Public Sans" pitchFamily="34" charset="0"/>
                          <a:ea typeface="Public Sans" pitchFamily="34" charset="-122"/>
                          <a:cs typeface="Public Sans" pitchFamily="34" charset="-120"/>
                        </a:rPr>
                        <a:t>W5–6</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r>
                        <a:rPr lang="en-US" sz="1200" b="1" dirty="0">
                          <a:solidFill>
                            <a:srgbClr val="000000"/>
                          </a:solidFill>
                          <a:latin typeface="Public Sans" pitchFamily="34" charset="0"/>
                          <a:ea typeface="Public Sans" pitchFamily="34" charset="-122"/>
                          <a:cs typeface="Public Sans" pitchFamily="34" charset="-120"/>
                        </a:rPr>
                        <a:t>W7–8</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r>
                        <a:rPr lang="en-US" sz="1200" b="1" dirty="0">
                          <a:solidFill>
                            <a:srgbClr val="000000"/>
                          </a:solidFill>
                          <a:latin typeface="Public Sans" pitchFamily="34" charset="0"/>
                          <a:ea typeface="Public Sans" pitchFamily="34" charset="-122"/>
                          <a:cs typeface="Public Sans" pitchFamily="34" charset="-120"/>
                        </a:rPr>
                        <a:t>W9–10</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r>
                        <a:rPr lang="en-US" sz="1200" b="1" dirty="0">
                          <a:solidFill>
                            <a:srgbClr val="000000"/>
                          </a:solidFill>
                          <a:latin typeface="Public Sans" pitchFamily="34" charset="0"/>
                          <a:ea typeface="Public Sans" pitchFamily="34" charset="-122"/>
                          <a:cs typeface="Public Sans" pitchFamily="34" charset="-120"/>
                        </a:rPr>
                        <a:t>W11–12</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b="1" dirty="0">
                          <a:solidFill>
                            <a:srgbClr val="000000"/>
                          </a:solidFill>
                          <a:latin typeface="Public Sans" pitchFamily="34" charset="0"/>
                          <a:ea typeface="Public Sans" pitchFamily="34" charset="-122"/>
                          <a:cs typeface="Public Sans" pitchFamily="34" charset="-120"/>
                        </a:rPr>
                        <a:t>Status</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000000"/>
                          </a:solidFill>
                          <a:latin typeface="Public Sans" pitchFamily="34" charset="0"/>
                          <a:ea typeface="Public Sans" pitchFamily="34" charset="-122"/>
                          <a:cs typeface="Public Sans" pitchFamily="34" charset="-120"/>
                        </a:rPr>
                        <a:t>Literature survey</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r>
                        <a:rPr lang="en-US" sz="1200" dirty="0">
                          <a:solidFill>
                            <a:srgbClr val="000000"/>
                          </a:solidFill>
                          <a:latin typeface="Public Sans" pitchFamily="34" charset="0"/>
                          <a:ea typeface="Public Sans" pitchFamily="34" charset="-122"/>
                          <a:cs typeface="Public Sans" pitchFamily="34" charset="-120"/>
                        </a:rPr>
                        <a:t>■</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r>
                        <a:rPr lang="en-US" sz="1200" dirty="0">
                          <a:solidFill>
                            <a:srgbClr val="000000"/>
                          </a:solidFill>
                          <a:latin typeface="Public Sans" pitchFamily="34" charset="0"/>
                          <a:ea typeface="Public Sans" pitchFamily="34" charset="-122"/>
                          <a:cs typeface="Public Sans" pitchFamily="34" charset="-120"/>
                        </a:rPr>
                        <a:t>■</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Completed</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000000"/>
                          </a:solidFill>
                          <a:latin typeface="Public Sans" pitchFamily="34" charset="0"/>
                          <a:ea typeface="Public Sans" pitchFamily="34" charset="-122"/>
                          <a:cs typeface="Public Sans" pitchFamily="34" charset="-120"/>
                        </a:rPr>
                        <a:t>Requirements</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r>
                        <a:rPr lang="en-US" sz="1200" dirty="0">
                          <a:solidFill>
                            <a:srgbClr val="000000"/>
                          </a:solidFill>
                          <a:latin typeface="Public Sans" pitchFamily="34" charset="0"/>
                          <a:ea typeface="Public Sans" pitchFamily="34" charset="-122"/>
                          <a:cs typeface="Public Sans" pitchFamily="34" charset="-120"/>
                        </a:rPr>
                        <a:t>■</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Completed</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000000"/>
                          </a:solidFill>
                          <a:latin typeface="Public Sans" pitchFamily="34" charset="0"/>
                          <a:ea typeface="Public Sans" pitchFamily="34" charset="-122"/>
                          <a:cs typeface="Public Sans" pitchFamily="34" charset="-120"/>
                        </a:rPr>
                        <a:t>Design</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r>
                        <a:rPr lang="en-US" sz="1200" dirty="0">
                          <a:solidFill>
                            <a:srgbClr val="000000"/>
                          </a:solidFill>
                          <a:latin typeface="Public Sans" pitchFamily="34" charset="0"/>
                          <a:ea typeface="Public Sans" pitchFamily="34" charset="-122"/>
                          <a:cs typeface="Public Sans" pitchFamily="34" charset="-120"/>
                        </a:rPr>
                        <a:t>■</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Completed</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000000"/>
                          </a:solidFill>
                          <a:latin typeface="Public Sans" pitchFamily="34" charset="0"/>
                          <a:ea typeface="Public Sans" pitchFamily="34" charset="-122"/>
                          <a:cs typeface="Public Sans" pitchFamily="34" charset="-120"/>
                        </a:rPr>
                        <a:t>Implementation</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r>
                        <a:rPr lang="en-US" sz="1200" dirty="0">
                          <a:solidFill>
                            <a:srgbClr val="000000"/>
                          </a:solidFill>
                          <a:latin typeface="Public Sans" pitchFamily="34" charset="0"/>
                          <a:ea typeface="Public Sans" pitchFamily="34" charset="-122"/>
                          <a:cs typeface="Public Sans" pitchFamily="34" charset="-120"/>
                        </a:rPr>
                        <a:t>■</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r>
                        <a:rPr lang="en-US" sz="1200" dirty="0">
                          <a:solidFill>
                            <a:srgbClr val="000000"/>
                          </a:solidFill>
                          <a:latin typeface="Public Sans" pitchFamily="34" charset="0"/>
                          <a:ea typeface="Public Sans" pitchFamily="34" charset="-122"/>
                          <a:cs typeface="Public Sans" pitchFamily="34" charset="-120"/>
                        </a:rPr>
                        <a:t>■</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r>
                        <a:rPr lang="en-US" sz="1200" dirty="0">
                          <a:solidFill>
                            <a:srgbClr val="000000"/>
                          </a:solidFill>
                          <a:latin typeface="Public Sans" pitchFamily="34" charset="0"/>
                          <a:ea typeface="Public Sans" pitchFamily="34" charset="-122"/>
                          <a:cs typeface="Public Sans" pitchFamily="34" charset="-120"/>
                        </a:rPr>
                        <a:t>■</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Completed</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000000"/>
                          </a:solidFill>
                          <a:latin typeface="Public Sans" pitchFamily="34" charset="0"/>
                          <a:ea typeface="Public Sans" pitchFamily="34" charset="-122"/>
                          <a:cs typeface="Public Sans" pitchFamily="34" charset="-120"/>
                        </a:rPr>
                        <a:t>Testing and results</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r>
                        <a:rPr lang="en-US" sz="1200" dirty="0">
                          <a:solidFill>
                            <a:srgbClr val="000000"/>
                          </a:solidFill>
                          <a:latin typeface="Public Sans" pitchFamily="34" charset="0"/>
                          <a:ea typeface="Public Sans" pitchFamily="34" charset="-122"/>
                          <a:cs typeface="Public Sans" pitchFamily="34" charset="-120"/>
                        </a:rPr>
                        <a:t>■</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r>
                        <a:rPr lang="en-US" sz="1200" dirty="0">
                          <a:solidFill>
                            <a:srgbClr val="000000"/>
                          </a:solidFill>
                          <a:latin typeface="Public Sans" pitchFamily="34" charset="0"/>
                          <a:ea typeface="Public Sans" pitchFamily="34" charset="-122"/>
                          <a:cs typeface="Public Sans" pitchFamily="34" charset="-120"/>
                        </a:rPr>
                        <a:t>■</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Completed</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000000"/>
                          </a:solidFill>
                          <a:latin typeface="Public Sans" pitchFamily="34" charset="0"/>
                          <a:ea typeface="Public Sans" pitchFamily="34" charset="-122"/>
                          <a:cs typeface="Public Sans" pitchFamily="34" charset="-120"/>
                        </a:rPr>
                        <a:t>Report and review</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gn="ctr">
                        <a:lnSpc>
                          <a:spcPts val="1680"/>
                        </a:lnSpc>
                        <a:buNone/>
                      </a:pPr>
                      <a:r>
                        <a:rPr lang="en-US" sz="1200" dirty="0">
                          <a:solidFill>
                            <a:srgbClr val="000000"/>
                          </a:solidFill>
                          <a:latin typeface="Public Sans" pitchFamily="34" charset="0"/>
                          <a:ea typeface="Public Sans" pitchFamily="34" charset="-122"/>
                          <a:cs typeface="Public Sans" pitchFamily="34" charset="-120"/>
                        </a:rPr>
                        <a:t>■</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Completed</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ext 2"/>
          <p:cNvSpPr/>
          <p:nvPr/>
        </p:nvSpPr>
        <p:spPr>
          <a:xfrm>
            <a:off x="812800" y="4319271"/>
            <a:ext cx="10883392" cy="273050"/>
          </a:xfrm>
          <a:prstGeom prst="rect">
            <a:avLst/>
          </a:prstGeom>
          <a:noFill/>
          <a:ln/>
        </p:spPr>
        <p:txBody>
          <a:bodyPr wrap="square" lIns="0" tIns="0" rIns="0" bIns="0" rtlCol="0" anchor="t">
            <a:normAutofit/>
          </a:bodyPr>
          <a:lstStyle/>
          <a:p>
            <a:r>
              <a:t>Completed so far: 100% | All Phase I, II, &amp; III objectives achieved with verified code and artifacts.</a:t>
            </a:r>
          </a:p>
        </p:txBody>
      </p:sp>
      <p:sp>
        <p:nvSpPr>
          <p:cNvPr id="7" name="Text 3"/>
          <p:cNvSpPr/>
          <p:nvPr/>
        </p:nvSpPr>
        <p:spPr>
          <a:xfrm>
            <a:off x="812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Public Sans" pitchFamily="34" charset="0"/>
                <a:ea typeface="Public Sans" pitchFamily="34" charset="-122"/>
                <a:cs typeface="Public Sans" pitchFamily="34" charset="-120"/>
              </a:rPr>
              <a:t>The Apollo University · Dept. of CSE (AI &amp; DS) · Mini Project Review [II]</a:t>
            </a:r>
            <a:endParaRPr lang="en-US" sz="1200" dirty="0"/>
          </a:p>
        </p:txBody>
      </p:sp>
      <p:sp>
        <p:nvSpPr>
          <p:cNvPr id="8" name="Text 4"/>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Public Sans" pitchFamily="34" charset="0"/>
                <a:ea typeface="Public Sans" pitchFamily="34" charset="-122"/>
                <a:cs typeface="Public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The Apollo University logo"/>
          <p:cNvPicPr>
            <a:picLocks noChangeAspect="1"/>
          </p:cNvPicPr>
          <p:nvPr/>
        </p:nvPicPr>
        <p:blipFill>
          <a:blip r:embed="rId3"/>
          <a:srcRect l="-12500" r="-12500"/>
          <a:stretch/>
        </p:blipFill>
        <p:spPr>
          <a:xfrm>
            <a:off x="10426700" y="609600"/>
            <a:ext cx="952500" cy="762000"/>
          </a:xfrm>
          <a:prstGeom prst="rect">
            <a:avLst/>
          </a:prstGeom>
        </p:spPr>
      </p:pic>
      <p:sp>
        <p:nvSpPr>
          <p:cNvPr id="3" name="Text 0"/>
          <p:cNvSpPr/>
          <p:nvPr/>
        </p:nvSpPr>
        <p:spPr>
          <a:xfrm>
            <a:off x="812800" y="812800"/>
            <a:ext cx="941832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Public Sans" pitchFamily="34" charset="0"/>
                <a:ea typeface="Public Sans" pitchFamily="34" charset="-122"/>
                <a:cs typeface="Public Sans" pitchFamily="34" charset="-120"/>
              </a:rPr>
              <a:t>REVIEW III · IMPLEMENTATION</a:t>
            </a:r>
            <a:endParaRPr lang="en-US" sz="1200" dirty="0"/>
          </a:p>
        </p:txBody>
      </p:sp>
      <p:sp>
        <p:nvSpPr>
          <p:cNvPr id="4" name="Text 1"/>
          <p:cNvSpPr>
            <a:spLocks noGrp="1"/>
          </p:cNvSpPr>
          <p:nvPr>
            <p:ph type="title"/>
          </p:nvPr>
        </p:nvSpPr>
        <p:spPr>
          <a:xfrm>
            <a:off x="812800" y="1102364"/>
            <a:ext cx="941832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00000"/>
                </a:solidFill>
                <a:latin typeface="Libre Baskerville" pitchFamily="18" charset="0"/>
                <a:ea typeface="Libre Baskerville" pitchFamily="18" charset="-122"/>
                <a:cs typeface="Libre Baskerville" pitchFamily="18" charset="-120"/>
              </a:rPr>
              <a:t>Implementation and output screens</a:t>
            </a:r>
            <a:endParaRPr lang="en-US" sz="3000" dirty="0"/>
          </a:p>
        </p:txBody>
      </p:sp>
      <p:sp>
        <p:nvSpPr>
          <p:cNvPr id="5" name="Text 2"/>
          <p:cNvSpPr/>
          <p:nvPr/>
        </p:nvSpPr>
        <p:spPr>
          <a:xfrm>
            <a:off x="822325" y="1778639"/>
            <a:ext cx="5137150" cy="3738880"/>
          </a:xfrm>
          <a:prstGeom prst="roundRect">
            <a:avLst>
              <a:gd name="adj" fmla="val 3142"/>
            </a:avLst>
          </a:prstGeom>
          <a:solidFill>
            <a:srgbClr val="FFFFFF"/>
          </a:solidFill>
          <a:ln w="19050">
            <a:solidFill>
              <a:srgbClr val="000000"/>
            </a:solidFill>
            <a:prstDash val="dash"/>
          </a:ln>
        </p:spPr>
        <p:txBody>
          <a:bodyPr wrap="square" lIns="174508" tIns="174508" rIns="174508" bIns="174508" rtlCol="0" anchor="ctr">
            <a:normAutofit/>
          </a:bodyPr>
          <a:lstStyle/>
          <a:p/>
        </p:txBody>
      </p:sp>
      <p:sp>
        <p:nvSpPr>
          <p:cNvPr id="6" name="Text 3"/>
          <p:cNvSpPr/>
          <p:nvPr/>
        </p:nvSpPr>
        <p:spPr>
          <a:xfrm>
            <a:off x="735457" y="5628642"/>
            <a:ext cx="5310886" cy="238760"/>
          </a:xfrm>
          <a:prstGeom prst="rect">
            <a:avLst/>
          </a:prstGeom>
          <a:noFill/>
          <a:ln/>
        </p:spPr>
        <p:txBody>
          <a:bodyPr wrap="square" lIns="0" tIns="0" rIns="0" bIns="0" rtlCol="0" anchor="t">
            <a:normAutofit/>
          </a:bodyPr>
          <a:lstStyle/>
          <a:p>
            <a:r>
              <a:t>Figure 5.1: Live Streamlit interactive web application with file upload, prediction metrics, and uncertainty gating.</a:t>
            </a:r>
          </a:p>
        </p:txBody>
      </p:sp>
      <p:sp>
        <p:nvSpPr>
          <p:cNvPr id="7" name="Text 4"/>
          <p:cNvSpPr/>
          <p:nvPr/>
        </p:nvSpPr>
        <p:spPr>
          <a:xfrm>
            <a:off x="6232525" y="1778639"/>
            <a:ext cx="5137150" cy="3738880"/>
          </a:xfrm>
          <a:prstGeom prst="roundRect">
            <a:avLst>
              <a:gd name="adj" fmla="val 3142"/>
            </a:avLst>
          </a:prstGeom>
          <a:solidFill>
            <a:srgbClr val="FFFFFF"/>
          </a:solidFill>
          <a:ln w="19050">
            <a:solidFill>
              <a:srgbClr val="000000"/>
            </a:solidFill>
            <a:prstDash val="dash"/>
          </a:ln>
        </p:spPr>
        <p:txBody>
          <a:bodyPr wrap="square" lIns="174508" tIns="174508" rIns="174508" bIns="174508" rtlCol="0" anchor="ctr">
            <a:normAutofit/>
          </a:bodyPr>
          <a:lstStyle/>
          <a:p/>
        </p:txBody>
      </p:sp>
      <p:sp>
        <p:nvSpPr>
          <p:cNvPr id="8" name="Text 5"/>
          <p:cNvSpPr/>
          <p:nvPr/>
        </p:nvSpPr>
        <p:spPr>
          <a:xfrm>
            <a:off x="6145657" y="5628642"/>
            <a:ext cx="5310886" cy="238760"/>
          </a:xfrm>
          <a:prstGeom prst="rect">
            <a:avLst/>
          </a:prstGeom>
          <a:noFill/>
          <a:ln/>
        </p:spPr>
        <p:txBody>
          <a:bodyPr wrap="square" lIns="0" tIns="0" rIns="0" bIns="0" rtlCol="0" anchor="t">
            <a:normAutofit/>
          </a:bodyPr>
          <a:lstStyle/>
          <a:p>
            <a:r>
              <a:t>Figure 5.2: Explainable AI validation: Grad-CAM and Grad-CAM++ saliency heatmaps across all 4 diagnostic classes.</a:t>
            </a:r>
          </a:p>
        </p:txBody>
      </p:sp>
      <p:sp>
        <p:nvSpPr>
          <p:cNvPr id="9" name="Text 6"/>
          <p:cNvSpPr/>
          <p:nvPr/>
        </p:nvSpPr>
        <p:spPr>
          <a:xfrm>
            <a:off x="812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Public Sans" pitchFamily="34" charset="0"/>
                <a:ea typeface="Public Sans" pitchFamily="34" charset="-122"/>
                <a:cs typeface="Public Sans" pitchFamily="34" charset="-120"/>
              </a:rPr>
              <a:t>The Apollo University · Dept. of CSE (AI &amp; DS) · Mini Project Review [III]</a:t>
            </a:r>
            <a:endParaRPr lang="en-US" sz="1200" dirty="0"/>
          </a:p>
        </p:txBody>
      </p:sp>
      <p:sp>
        <p:nvSpPr>
          <p:cNvPr id="10" name="Text 7"/>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Public Sans" pitchFamily="34" charset="0"/>
                <a:ea typeface="Public Sans" pitchFamily="34" charset="-122"/>
                <a:cs typeface="Public Sans" pitchFamily="34" charset="-120"/>
              </a:rPr>
              <a:t>15</a:t>
            </a:r>
            <a:endParaRPr lang="en-US" sz="1200" dirty="0"/>
          </a:p>
        </p:txBody>
      </p:sp>
      <p:pic>
        <p:nvPicPr>
          <p:cNvPr id="11" name="Picture 10" descr="streamlit_prediction_results.png"/>
          <p:cNvPicPr>
            <a:picLocks noChangeAspect="1"/>
          </p:cNvPicPr>
          <p:nvPr/>
        </p:nvPicPr>
        <p:blipFill>
          <a:blip r:embed="rId4"/>
          <a:stretch>
            <a:fillRect/>
          </a:stretch>
        </p:blipFill>
        <p:spPr>
          <a:xfrm>
            <a:off x="777240" y="1691640"/>
            <a:ext cx="4572000" cy="3474720"/>
          </a:xfrm>
          <a:prstGeom prst="rect">
            <a:avLst/>
          </a:prstGeom>
        </p:spPr>
      </p:pic>
      <p:pic>
        <p:nvPicPr>
          <p:cNvPr id="12" name="Picture 11" descr="gradcam_4class_summary_grid.png"/>
          <p:cNvPicPr>
            <a:picLocks noChangeAspect="1"/>
          </p:cNvPicPr>
          <p:nvPr/>
        </p:nvPicPr>
        <p:blipFill>
          <a:blip r:embed="rId5"/>
          <a:stretch>
            <a:fillRect/>
          </a:stretch>
        </p:blipFill>
        <p:spPr>
          <a:xfrm>
            <a:off x="5577840" y="1691640"/>
            <a:ext cx="4754880" cy="3474720"/>
          </a:xfrm>
          <a:prstGeom prst="rect">
            <a:avLst/>
          </a:prstGeom>
        </p:spPr>
      </p:pic>
      <p:pic>
        <p:nvPicPr>
          <p:cNvPr id="13" name="Picture 12" descr="image.png"/>
          <p:cNvPicPr>
            <a:picLocks noChangeAspect="1"/>
          </p:cNvPicPr>
          <p:nvPr/>
        </p:nvPicPr>
        <p:blipFill>
          <a:blip r:embed="rId4"/>
          <a:stretch>
            <a:fillRect/>
          </a:stretch>
        </p:blipFill>
        <p:spPr>
          <a:xfrm>
            <a:off x="777240" y="1691640"/>
            <a:ext cx="4572000" cy="3474720"/>
          </a:xfrm>
          <a:prstGeom prst="rect">
            <a:avLst/>
          </a:prstGeom>
        </p:spPr>
      </p:pic>
      <p:pic>
        <p:nvPicPr>
          <p:cNvPr id="14" name="Picture 13" descr="image.png"/>
          <p:cNvPicPr>
            <a:picLocks noChangeAspect="1"/>
          </p:cNvPicPr>
          <p:nvPr/>
        </p:nvPicPr>
        <p:blipFill>
          <a:blip r:embed="rId5"/>
          <a:stretch>
            <a:fillRect/>
          </a:stretch>
        </p:blipFill>
        <p:spPr>
          <a:xfrm>
            <a:off x="5577840" y="1691640"/>
            <a:ext cx="4754880" cy="34747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The Apollo University logo"/>
          <p:cNvPicPr>
            <a:picLocks noChangeAspect="1"/>
          </p:cNvPicPr>
          <p:nvPr/>
        </p:nvPicPr>
        <p:blipFill>
          <a:blip r:embed="rId3"/>
          <a:srcRect l="-12500" r="-12500"/>
          <a:stretch/>
        </p:blipFill>
        <p:spPr>
          <a:xfrm>
            <a:off x="10426700" y="609600"/>
            <a:ext cx="952500" cy="762000"/>
          </a:xfrm>
          <a:prstGeom prst="rect">
            <a:avLst/>
          </a:prstGeom>
        </p:spPr>
      </p:pic>
      <p:sp>
        <p:nvSpPr>
          <p:cNvPr id="3" name="Text 0"/>
          <p:cNvSpPr/>
          <p:nvPr/>
        </p:nvSpPr>
        <p:spPr>
          <a:xfrm>
            <a:off x="812800" y="812800"/>
            <a:ext cx="941832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Public Sans" pitchFamily="34" charset="0"/>
                <a:ea typeface="Public Sans" pitchFamily="34" charset="-122"/>
                <a:cs typeface="Public Sans" pitchFamily="34" charset="-120"/>
              </a:rPr>
              <a:t>REVIEW III · RESULTS</a:t>
            </a:r>
            <a:endParaRPr lang="en-US" sz="1200" dirty="0"/>
          </a:p>
        </p:txBody>
      </p:sp>
      <p:sp>
        <p:nvSpPr>
          <p:cNvPr id="4" name="Text 1"/>
          <p:cNvSpPr>
            <a:spLocks noGrp="1"/>
          </p:cNvSpPr>
          <p:nvPr>
            <p:ph type="title"/>
          </p:nvPr>
        </p:nvSpPr>
        <p:spPr>
          <a:xfrm>
            <a:off x="812800" y="1102364"/>
            <a:ext cx="941832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00000"/>
                </a:solidFill>
                <a:latin typeface="Libre Baskerville" pitchFamily="18" charset="0"/>
                <a:ea typeface="Libre Baskerville" pitchFamily="18" charset="-122"/>
                <a:cs typeface="Libre Baskerville" pitchFamily="18" charset="-120"/>
              </a:rPr>
              <a:t>Results and performance analysis</a:t>
            </a:r>
            <a:endParaRPr lang="en-US" sz="3000" dirty="0"/>
          </a:p>
        </p:txBody>
      </p:sp>
      <p:sp>
        <p:nvSpPr>
          <p:cNvPr id="5" name="Shape 2"/>
          <p:cNvSpPr/>
          <p:nvPr/>
        </p:nvSpPr>
        <p:spPr>
          <a:xfrm>
            <a:off x="819150" y="1800858"/>
            <a:ext cx="3373914" cy="1336040"/>
          </a:xfrm>
          <a:prstGeom prst="roundRect">
            <a:avLst>
              <a:gd name="adj" fmla="val 9030"/>
            </a:avLst>
          </a:prstGeom>
          <a:solidFill>
            <a:srgbClr val="FFFFFF"/>
          </a:solidFill>
          <a:ln w="12700">
            <a:solidFill>
              <a:srgbClr val="000000"/>
            </a:solidFill>
            <a:prstDash val="solid"/>
          </a:ln>
        </p:spPr>
        <p:txBody>
          <a:bodyPr/>
          <a:p/>
        </p:txBody>
      </p:sp>
      <p:sp>
        <p:nvSpPr>
          <p:cNvPr id="6" name="Text 3"/>
          <p:cNvSpPr/>
          <p:nvPr/>
        </p:nvSpPr>
        <p:spPr>
          <a:xfrm>
            <a:off x="1076960" y="2007877"/>
            <a:ext cx="2944043" cy="665480"/>
          </a:xfrm>
          <a:prstGeom prst="rect">
            <a:avLst/>
          </a:prstGeom>
          <a:noFill/>
          <a:ln/>
        </p:spPr>
        <p:txBody>
          <a:bodyPr wrap="square" lIns="0" tIns="0" rIns="0" bIns="0" rtlCol="0" anchor="t">
            <a:normAutofit/>
          </a:bodyPr>
          <a:lstStyle/>
          <a:p>
            <a:r>
              <a:t>87.50%</a:t>
            </a:r>
          </a:p>
        </p:txBody>
      </p:sp>
      <p:sp>
        <p:nvSpPr>
          <p:cNvPr id="7" name="Text 4"/>
          <p:cNvSpPr/>
          <p:nvPr/>
        </p:nvSpPr>
        <p:spPr>
          <a:xfrm>
            <a:off x="1076960" y="2698750"/>
            <a:ext cx="2944043" cy="256540"/>
          </a:xfrm>
          <a:prstGeom prst="rect">
            <a:avLst/>
          </a:prstGeom>
          <a:noFill/>
          <a:ln/>
        </p:spPr>
        <p:txBody>
          <a:bodyPr wrap="square" lIns="0" tIns="0" rIns="0" bIns="0" rtlCol="0" anchor="t">
            <a:normAutofit/>
          </a:bodyPr>
          <a:lstStyle/>
          <a:p>
            <a:r>
              <a:t>Official Test Accuracy</a:t>
            </a:r>
          </a:p>
        </p:txBody>
      </p:sp>
      <p:sp>
        <p:nvSpPr>
          <p:cNvPr id="8" name="Shape 5"/>
          <p:cNvSpPr/>
          <p:nvPr/>
        </p:nvSpPr>
        <p:spPr>
          <a:xfrm>
            <a:off x="4408964" y="1800858"/>
            <a:ext cx="3373993" cy="1336040"/>
          </a:xfrm>
          <a:prstGeom prst="roundRect">
            <a:avLst>
              <a:gd name="adj" fmla="val 9030"/>
            </a:avLst>
          </a:prstGeom>
          <a:solidFill>
            <a:srgbClr val="FFFFFF"/>
          </a:solidFill>
          <a:ln w="12700">
            <a:solidFill>
              <a:srgbClr val="000000"/>
            </a:solidFill>
            <a:prstDash val="solid"/>
          </a:ln>
        </p:spPr>
        <p:txBody>
          <a:bodyPr/>
          <a:p/>
        </p:txBody>
      </p:sp>
      <p:sp>
        <p:nvSpPr>
          <p:cNvPr id="9" name="Text 6"/>
          <p:cNvSpPr/>
          <p:nvPr/>
        </p:nvSpPr>
        <p:spPr>
          <a:xfrm>
            <a:off x="4666774" y="2007877"/>
            <a:ext cx="2944124" cy="665480"/>
          </a:xfrm>
          <a:prstGeom prst="rect">
            <a:avLst/>
          </a:prstGeom>
          <a:noFill/>
          <a:ln/>
        </p:spPr>
        <p:txBody>
          <a:bodyPr wrap="square" lIns="0" tIns="0" rIns="0" bIns="0" rtlCol="0" anchor="t">
            <a:normAutofit/>
          </a:bodyPr>
          <a:lstStyle/>
          <a:p>
            <a:r>
              <a:t>0.8699</a:t>
            </a:r>
          </a:p>
        </p:txBody>
      </p:sp>
      <p:sp>
        <p:nvSpPr>
          <p:cNvPr id="10" name="Text 7"/>
          <p:cNvSpPr/>
          <p:nvPr/>
        </p:nvSpPr>
        <p:spPr>
          <a:xfrm>
            <a:off x="4666774" y="2698750"/>
            <a:ext cx="2944124" cy="256540"/>
          </a:xfrm>
          <a:prstGeom prst="rect">
            <a:avLst/>
          </a:prstGeom>
          <a:noFill/>
          <a:ln/>
        </p:spPr>
        <p:txBody>
          <a:bodyPr wrap="square" lIns="0" tIns="0" rIns="0" bIns="0" rtlCol="0" anchor="t">
            <a:normAutofit/>
          </a:bodyPr>
          <a:lstStyle/>
          <a:p>
            <a:r>
              <a:t>Macro F1-Score</a:t>
            </a:r>
          </a:p>
        </p:txBody>
      </p:sp>
      <p:sp>
        <p:nvSpPr>
          <p:cNvPr id="11" name="Shape 8"/>
          <p:cNvSpPr/>
          <p:nvPr/>
        </p:nvSpPr>
        <p:spPr>
          <a:xfrm>
            <a:off x="7998857" y="1800858"/>
            <a:ext cx="3373993" cy="1336040"/>
          </a:xfrm>
          <a:prstGeom prst="roundRect">
            <a:avLst>
              <a:gd name="adj" fmla="val 9030"/>
            </a:avLst>
          </a:prstGeom>
          <a:solidFill>
            <a:srgbClr val="FFFFFF"/>
          </a:solidFill>
          <a:ln w="12700">
            <a:solidFill>
              <a:srgbClr val="000000"/>
            </a:solidFill>
            <a:prstDash val="solid"/>
          </a:ln>
        </p:spPr>
        <p:txBody>
          <a:bodyPr/>
          <a:p/>
        </p:txBody>
      </p:sp>
      <p:sp>
        <p:nvSpPr>
          <p:cNvPr id="12" name="Text 9"/>
          <p:cNvSpPr/>
          <p:nvPr/>
        </p:nvSpPr>
        <p:spPr>
          <a:xfrm>
            <a:off x="8256667" y="2007877"/>
            <a:ext cx="2944124" cy="665480"/>
          </a:xfrm>
          <a:prstGeom prst="rect">
            <a:avLst/>
          </a:prstGeom>
          <a:noFill/>
          <a:ln/>
        </p:spPr>
        <p:txBody>
          <a:bodyPr wrap="square" lIns="0" tIns="0" rIns="0" bIns="0" rtlCol="0" anchor="t">
            <a:normAutofit/>
          </a:bodyPr>
          <a:lstStyle/>
          <a:p>
            <a:r>
              <a:t>1.15 s</a:t>
            </a:r>
          </a:p>
        </p:txBody>
      </p:sp>
      <p:sp>
        <p:nvSpPr>
          <p:cNvPr id="13" name="Text 10"/>
          <p:cNvSpPr/>
          <p:nvPr/>
        </p:nvSpPr>
        <p:spPr>
          <a:xfrm>
            <a:off x="8256667" y="2698750"/>
            <a:ext cx="2944124" cy="256540"/>
          </a:xfrm>
          <a:prstGeom prst="rect">
            <a:avLst/>
          </a:prstGeom>
          <a:noFill/>
          <a:ln/>
        </p:spPr>
        <p:txBody>
          <a:bodyPr wrap="square" lIns="0" tIns="0" rIns="0" bIns="0" rtlCol="0" anchor="t">
            <a:normAutofit/>
          </a:bodyPr>
          <a:lstStyle/>
          <a:p>
            <a:r>
              <a:t>Inference Latency</a:t>
            </a:r>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2960" y="3407410"/>
          <a:ext cx="10556241" cy="1320800"/>
        </p:xfrm>
        <a:graphic>
          <a:graphicData uri="http://schemas.openxmlformats.org/drawingml/2006/table">
            <a:tbl>
              <a:tblPr/>
              <a:tblGrid>
                <a:gridCol w="3589122">
                  <a:extLst>
                    <a:ext uri="{9D8B030D-6E8A-4147-A177-3AD203B41FA5}">
                      <a16:colId xmlns:a16="http://schemas.microsoft.com/office/drawing/2014/main" val="20000"/>
                    </a:ext>
                  </a:extLst>
                </a:gridCol>
                <a:gridCol w="2322373">
                  <a:extLst>
                    <a:ext uri="{9D8B030D-6E8A-4147-A177-3AD203B41FA5}">
                      <a16:colId xmlns:a16="http://schemas.microsoft.com/office/drawing/2014/main" val="20001"/>
                    </a:ext>
                  </a:extLst>
                </a:gridCol>
                <a:gridCol w="2322373">
                  <a:extLst>
                    <a:ext uri="{9D8B030D-6E8A-4147-A177-3AD203B41FA5}">
                      <a16:colId xmlns:a16="http://schemas.microsoft.com/office/drawing/2014/main" val="20002"/>
                    </a:ext>
                  </a:extLst>
                </a:gridCol>
                <a:gridCol w="2322373">
                  <a:extLst>
                    <a:ext uri="{9D8B030D-6E8A-4147-A177-3AD203B41FA5}">
                      <a16:colId xmlns:a16="http://schemas.microsoft.com/office/drawing/2014/main" val="20003"/>
                    </a:ext>
                  </a:extLst>
                </a:gridCol>
              </a:tblGrid>
              <a:tr h="330200">
                <a:tc>
                  <a:txBody>
                    <a:bodyPr/>
                    <a:lstStyle/>
                    <a:p>
                      <a:r>
                        <a:t>Model Architecture</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Test Accuracy</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Macro F1-Score</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Glioma Recall</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30200">
                <a:tc>
                  <a:txBody>
                    <a:bodyPr/>
                    <a:lstStyle/>
                    <a:p>
                      <a:r>
                        <a:t>Custom CNN Baseline</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68.75%</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0.6624</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41.25%</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200">
                <a:tc>
                  <a:txBody>
                    <a:bodyPr/>
                    <a:lstStyle/>
                    <a:p>
                      <a:r>
                        <a:t>EfficientNet-B0 (Frozen Backbone)</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87.50%</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0.8699</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65.75%</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200">
                <a:tc>
                  <a:txBody>
                    <a:bodyPr/>
                    <a:lstStyle/>
                    <a:p>
                      <a:r>
                        <a:t>EfficientNet-B0 + Grad-CAM (Proposed)</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87.50% (AUC: 0.9718)</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0.8699 (Calibrated)</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65.75% (Explainable)</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5" name="Text 11"/>
          <p:cNvSpPr/>
          <p:nvPr/>
        </p:nvSpPr>
        <p:spPr>
          <a:xfrm>
            <a:off x="812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Public Sans" pitchFamily="34" charset="0"/>
                <a:ea typeface="Public Sans" pitchFamily="34" charset="-122"/>
                <a:cs typeface="Public Sans" pitchFamily="34" charset="-120"/>
              </a:rPr>
              <a:t>The Apollo University · Dept. of CSE (AI &amp; DS) · Mini Project Review [III]</a:t>
            </a:r>
            <a:endParaRPr lang="en-US" sz="1200" dirty="0"/>
          </a:p>
        </p:txBody>
      </p:sp>
      <p:sp>
        <p:nvSpPr>
          <p:cNvPr id="16" name="Text 12"/>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Public Sans" pitchFamily="34" charset="0"/>
                <a:ea typeface="Public Sans" pitchFamily="34" charset="-122"/>
                <a:cs typeface="Public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The Apollo University logo"/>
          <p:cNvPicPr>
            <a:picLocks noChangeAspect="1"/>
          </p:cNvPicPr>
          <p:nvPr/>
        </p:nvPicPr>
        <p:blipFill>
          <a:blip r:embed="rId3"/>
          <a:srcRect l="-12500" r="-12500"/>
          <a:stretch/>
        </p:blipFill>
        <p:spPr>
          <a:xfrm>
            <a:off x="10426700" y="609600"/>
            <a:ext cx="952500" cy="762000"/>
          </a:xfrm>
          <a:prstGeom prst="rect">
            <a:avLst/>
          </a:prstGeom>
        </p:spPr>
      </p:pic>
      <p:sp>
        <p:nvSpPr>
          <p:cNvPr id="3" name="Text 0"/>
          <p:cNvSpPr/>
          <p:nvPr/>
        </p:nvSpPr>
        <p:spPr>
          <a:xfrm>
            <a:off x="812800" y="812800"/>
            <a:ext cx="941832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Public Sans" pitchFamily="34" charset="0"/>
                <a:ea typeface="Public Sans" pitchFamily="34" charset="-122"/>
                <a:cs typeface="Public Sans" pitchFamily="34" charset="-120"/>
              </a:rPr>
              <a:t>REVIEW III · TESTING</a:t>
            </a:r>
            <a:endParaRPr lang="en-US" sz="1200" dirty="0"/>
          </a:p>
        </p:txBody>
      </p:sp>
      <p:sp>
        <p:nvSpPr>
          <p:cNvPr id="4" name="Text 1"/>
          <p:cNvSpPr>
            <a:spLocks noGrp="1"/>
          </p:cNvSpPr>
          <p:nvPr>
            <p:ph type="title"/>
          </p:nvPr>
        </p:nvSpPr>
        <p:spPr>
          <a:xfrm>
            <a:off x="812800" y="1102358"/>
            <a:ext cx="941832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00000"/>
                </a:solidFill>
                <a:latin typeface="Libre Baskerville" pitchFamily="18" charset="0"/>
                <a:ea typeface="Libre Baskerville" pitchFamily="18" charset="-122"/>
                <a:cs typeface="Libre Baskerville" pitchFamily="18" charset="-120"/>
              </a:rPr>
              <a:t>Test cases and results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804668"/>
          <a:ext cx="10556240" cy="1981200"/>
        </p:xfrm>
        <a:graphic>
          <a:graphicData uri="http://schemas.openxmlformats.org/drawingml/2006/table">
            <a:tbl>
              <a:tblPr/>
              <a:tblGrid>
                <a:gridCol w="950062">
                  <a:extLst>
                    <a:ext uri="{9D8B030D-6E8A-4147-A177-3AD203B41FA5}">
                      <a16:colId xmlns:a16="http://schemas.microsoft.com/office/drawing/2014/main" val="20000"/>
                    </a:ext>
                  </a:extLst>
                </a:gridCol>
                <a:gridCol w="2639060">
                  <a:extLst>
                    <a:ext uri="{9D8B030D-6E8A-4147-A177-3AD203B41FA5}">
                      <a16:colId xmlns:a16="http://schemas.microsoft.com/office/drawing/2014/main" val="20001"/>
                    </a:ext>
                  </a:extLst>
                </a:gridCol>
                <a:gridCol w="1688998">
                  <a:extLst>
                    <a:ext uri="{9D8B030D-6E8A-4147-A177-3AD203B41FA5}">
                      <a16:colId xmlns:a16="http://schemas.microsoft.com/office/drawing/2014/main" val="20002"/>
                    </a:ext>
                  </a:extLst>
                </a:gridCol>
                <a:gridCol w="1900123">
                  <a:extLst>
                    <a:ext uri="{9D8B030D-6E8A-4147-A177-3AD203B41FA5}">
                      <a16:colId xmlns:a16="http://schemas.microsoft.com/office/drawing/2014/main" val="20003"/>
                    </a:ext>
                  </a:extLst>
                </a:gridCol>
                <a:gridCol w="1900123">
                  <a:extLst>
                    <a:ext uri="{9D8B030D-6E8A-4147-A177-3AD203B41FA5}">
                      <a16:colId xmlns:a16="http://schemas.microsoft.com/office/drawing/2014/main" val="20004"/>
                    </a:ext>
                  </a:extLst>
                </a:gridCol>
                <a:gridCol w="1477874">
                  <a:extLst>
                    <a:ext uri="{9D8B030D-6E8A-4147-A177-3AD203B41FA5}">
                      <a16:colId xmlns:a16="http://schemas.microsoft.com/office/drawing/2014/main" val="20005"/>
                    </a:ext>
                  </a:extLst>
                </a:gridCol>
              </a:tblGrid>
              <a:tr h="330200">
                <a:tc>
                  <a:txBody>
                    <a:bodyPr/>
                    <a:lstStyle/>
                    <a:p>
                      <a:pPr marL="0" indent="0">
                        <a:lnSpc>
                          <a:spcPts val="1680"/>
                        </a:lnSpc>
                        <a:buNone/>
                      </a:pPr>
                      <a:r>
                        <a:rPr lang="en-US" sz="1200" b="1" dirty="0">
                          <a:solidFill>
                            <a:srgbClr val="000000"/>
                          </a:solidFill>
                          <a:latin typeface="Public Sans" pitchFamily="34" charset="0"/>
                          <a:ea typeface="Public Sans" pitchFamily="34" charset="-122"/>
                          <a:cs typeface="Public Sans" pitchFamily="34" charset="-120"/>
                        </a:rPr>
                        <a:t>TC ID</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b="1" dirty="0">
                          <a:solidFill>
                            <a:srgbClr val="000000"/>
                          </a:solidFill>
                          <a:latin typeface="Public Sans" pitchFamily="34" charset="0"/>
                          <a:ea typeface="Public Sans" pitchFamily="34" charset="-122"/>
                          <a:cs typeface="Public Sans" pitchFamily="34" charset="-120"/>
                        </a:rPr>
                        <a:t>Description</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b="1" dirty="0">
                          <a:solidFill>
                            <a:srgbClr val="000000"/>
                          </a:solidFill>
                          <a:latin typeface="Public Sans" pitchFamily="34" charset="0"/>
                          <a:ea typeface="Public Sans" pitchFamily="34" charset="-122"/>
                          <a:cs typeface="Public Sans" pitchFamily="34" charset="-120"/>
                        </a:rPr>
                        <a:t>Input</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b="1" dirty="0">
                          <a:solidFill>
                            <a:srgbClr val="000000"/>
                          </a:solidFill>
                          <a:latin typeface="Public Sans" pitchFamily="34" charset="0"/>
                          <a:ea typeface="Public Sans" pitchFamily="34" charset="-122"/>
                          <a:cs typeface="Public Sans" pitchFamily="34" charset="-120"/>
                        </a:rPr>
                        <a:t>Expected output</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b="1" dirty="0">
                          <a:solidFill>
                            <a:srgbClr val="000000"/>
                          </a:solidFill>
                          <a:latin typeface="Public Sans" pitchFamily="34" charset="0"/>
                          <a:ea typeface="Public Sans" pitchFamily="34" charset="-122"/>
                          <a:cs typeface="Public Sans" pitchFamily="34" charset="-120"/>
                        </a:rPr>
                        <a:t>Actual output</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b="1" dirty="0">
                          <a:solidFill>
                            <a:srgbClr val="000000"/>
                          </a:solidFill>
                          <a:latin typeface="Public Sans" pitchFamily="34" charset="0"/>
                          <a:ea typeface="Public Sans" pitchFamily="34" charset="-122"/>
                          <a:cs typeface="Public Sans" pitchFamily="34" charset="-120"/>
                        </a:rPr>
                        <a:t>Status</a:t>
                      </a:r>
                      <a:endParaRPr lang="en-US" sz="1200" dirty="0">
                        <a:latin typeface="Public Sans" charset="0"/>
                        <a:ea typeface="Public Sans" charset="0"/>
                        <a:cs typeface="Public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30200">
                <a:tc>
                  <a:txBody>
                    <a:bodyPr/>
                    <a:lstStyle/>
                    <a:p>
                      <a:r>
                        <a:t>TC01</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Valid MRI Image Inference</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Axial MRI Scan (Te-gl_10.jpg)</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4-class softmax probability simplex</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Glioma 99.27% (Sum=1.000)</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Pass</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200">
                <a:tc>
                  <a:txBody>
                    <a:bodyPr/>
                    <a:lstStyle/>
                    <a:p>
                      <a:r>
                        <a:t>TC02</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Corrupted / Unsupported File</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Truncated JPG / Text file (.txt)</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Explicit validation error handled</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Exception caught cleanly</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Pass</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200">
                <a:tc>
                  <a:txBody>
                    <a:bodyPr/>
                    <a:lstStyle/>
                    <a:p>
                      <a:r>
                        <a:t>TC03</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Non-Standard Resolution Resize</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Arbitrary dimension (512x512)</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Resized to (1, 224, 224, 3)</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Tensor (1, 224, 224, 3)</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Pass</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200">
                <a:tc>
                  <a:txBody>
                    <a:bodyPr/>
                    <a:lstStyle/>
                    <a:p>
                      <a:r>
                        <a:t>TC04</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Grad-CAM Saliency Output</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Conv feature maps (7x7)</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Normalized 2D heatmap in [0, 1]</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Valid 2D heatmap [0.0, 1.0]</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Pass</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0200">
                <a:tc>
                  <a:txBody>
                    <a:bodyPr/>
                    <a:lstStyle/>
                    <a:p>
                      <a:r>
                        <a:t>TC05</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Model-Aware Calibration</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Checkpoint selection</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T=1.0993 for EffNet; T=1.0 for CNN</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Correct temperature decoupled</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r>
                        <a:t>Pass</a:t>
                      </a: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2"/>
          <p:cNvSpPr/>
          <p:nvPr/>
        </p:nvSpPr>
        <p:spPr>
          <a:xfrm>
            <a:off x="812800" y="4039877"/>
            <a:ext cx="10883392" cy="273050"/>
          </a:xfrm>
          <a:prstGeom prst="rect">
            <a:avLst/>
          </a:prstGeom>
          <a:noFill/>
          <a:ln/>
        </p:spPr>
        <p:txBody>
          <a:bodyPr wrap="square" lIns="0" tIns="0" rIns="0" bIns="0" rtlCol="0" anchor="t">
            <a:normAutofit/>
          </a:bodyPr>
          <a:lstStyle/>
          <a:p>
            <a:r>
              <a:t>Testing types done: Unit, Integration, Regression, Interface | Passed: 12 of 12 automated test cases (100% Pass Rate)</a:t>
            </a:r>
          </a:p>
        </p:txBody>
      </p:sp>
      <p:sp>
        <p:nvSpPr>
          <p:cNvPr id="7" name="Text 3"/>
          <p:cNvSpPr/>
          <p:nvPr/>
        </p:nvSpPr>
        <p:spPr>
          <a:xfrm>
            <a:off x="812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Public Sans" pitchFamily="34" charset="0"/>
                <a:ea typeface="Public Sans" pitchFamily="34" charset="-122"/>
                <a:cs typeface="Public Sans" pitchFamily="34" charset="-120"/>
              </a:rPr>
              <a:t>The Apollo University · Dept. of CSE (AI &amp; DS) · Mini Project Review [III]</a:t>
            </a:r>
            <a:endParaRPr lang="en-US" sz="1200" dirty="0"/>
          </a:p>
        </p:txBody>
      </p:sp>
      <p:sp>
        <p:nvSpPr>
          <p:cNvPr id="8" name="Text 4"/>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Public Sans" pitchFamily="34" charset="0"/>
                <a:ea typeface="Public Sans" pitchFamily="34" charset="-122"/>
                <a:cs typeface="Public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The Apollo University logo"/>
          <p:cNvPicPr>
            <a:picLocks noChangeAspect="1"/>
          </p:cNvPicPr>
          <p:nvPr/>
        </p:nvPicPr>
        <p:blipFill>
          <a:blip r:embed="rId3"/>
          <a:srcRect l="-12500" r="-12500"/>
          <a:stretch/>
        </p:blipFill>
        <p:spPr>
          <a:xfrm>
            <a:off x="10426700" y="609600"/>
            <a:ext cx="952500" cy="762000"/>
          </a:xfrm>
          <a:prstGeom prst="rect">
            <a:avLst/>
          </a:prstGeom>
        </p:spPr>
      </p:pic>
      <p:sp>
        <p:nvSpPr>
          <p:cNvPr id="3" name="Text 0"/>
          <p:cNvSpPr/>
          <p:nvPr/>
        </p:nvSpPr>
        <p:spPr>
          <a:xfrm>
            <a:off x="812800" y="812800"/>
            <a:ext cx="941832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Public Sans" pitchFamily="34" charset="0"/>
                <a:ea typeface="Public Sans" pitchFamily="34" charset="-122"/>
                <a:cs typeface="Public Sans" pitchFamily="34" charset="-120"/>
              </a:rPr>
              <a:t>REVIEW III · CONCLUSION</a:t>
            </a:r>
            <a:endParaRPr lang="en-US" sz="1200" dirty="0"/>
          </a:p>
        </p:txBody>
      </p:sp>
      <p:sp>
        <p:nvSpPr>
          <p:cNvPr id="4" name="Text 1"/>
          <p:cNvSpPr>
            <a:spLocks noGrp="1"/>
          </p:cNvSpPr>
          <p:nvPr>
            <p:ph type="title"/>
          </p:nvPr>
        </p:nvSpPr>
        <p:spPr>
          <a:xfrm>
            <a:off x="812800" y="1102358"/>
            <a:ext cx="941832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00000"/>
                </a:solidFill>
                <a:latin typeface="Libre Baskerville" pitchFamily="18" charset="0"/>
                <a:ea typeface="Libre Baskerville" pitchFamily="18" charset="-122"/>
                <a:cs typeface="Libre Baskerville" pitchFamily="18" charset="-120"/>
              </a:rPr>
              <a:t>Conclusion and future scope</a:t>
            </a:r>
            <a:endParaRPr lang="en-US" sz="3000" dirty="0"/>
          </a:p>
        </p:txBody>
      </p:sp>
      <p:sp>
        <p:nvSpPr>
          <p:cNvPr id="5" name="Shape 2"/>
          <p:cNvSpPr/>
          <p:nvPr/>
        </p:nvSpPr>
        <p:spPr>
          <a:xfrm>
            <a:off x="812800" y="1794508"/>
            <a:ext cx="6053296" cy="4047490"/>
          </a:xfrm>
          <a:prstGeom prst="roundRect">
            <a:avLst>
              <a:gd name="adj" fmla="val 3138"/>
            </a:avLst>
          </a:prstGeom>
          <a:solidFill>
            <a:srgbClr val="FFFFFF"/>
          </a:solidFill>
          <a:ln/>
        </p:spPr>
        <p:txBody>
          <a:bodyPr/>
          <a:p/>
        </p:txBody>
      </p:sp>
      <p:sp>
        <p:nvSpPr>
          <p:cNvPr id="6" name="Shape 3"/>
          <p:cNvSpPr/>
          <p:nvPr/>
        </p:nvSpPr>
        <p:spPr>
          <a:xfrm>
            <a:off x="812800" y="1794508"/>
            <a:ext cx="6053296" cy="4047490"/>
          </a:xfrm>
          <a:custGeom>
            <a:avLst/>
            <a:gdLst/>
            <a:ahLst/>
            <a:cxnLst/>
            <a:rect l="l" t="t" r="r" b="b"/>
            <a:pathLst>
              <a:path w="6053296" h="4047490">
                <a:moveTo>
                  <a:pt x="127000" y="0"/>
                </a:moveTo>
                <a:lnTo>
                  <a:pt x="5926296" y="0"/>
                </a:lnTo>
                <a:arcTo wR="127000" hR="127000" stAng="16200000" swAng="5400000"/>
                <a:lnTo>
                  <a:pt x="6053296" y="3920490"/>
                </a:lnTo>
                <a:arcTo wR="127000" hR="127000" stAng="0" swAng="5400000"/>
                <a:lnTo>
                  <a:pt x="127000" y="4047490"/>
                </a:lnTo>
                <a:arcTo wR="127000" hR="127000" stAng="5400000" swAng="5400000"/>
                <a:lnTo>
                  <a:pt x="0" y="127000"/>
                </a:lnTo>
                <a:arcTo wR="127000" hR="127000" stAng="10800000" swAng="5400000"/>
                <a:close/>
                <a:moveTo>
                  <a:pt x="127000" y="12700"/>
                </a:moveTo>
                <a:arcTo wR="76200" hR="114300" stAng="16200000" swAng="-5400000"/>
                <a:lnTo>
                  <a:pt x="50800" y="3920490"/>
                </a:lnTo>
                <a:arcTo wR="76200" hR="114300" stAng="10800000" swAng="-5400000"/>
                <a:lnTo>
                  <a:pt x="5926296" y="4034790"/>
                </a:lnTo>
                <a:arcTo wR="114300" hR="114300" stAng="5400000" swAng="-5400000"/>
                <a:lnTo>
                  <a:pt x="6040596" y="127000"/>
                </a:lnTo>
                <a:arcTo wR="114300" hR="114300" stAng="0" swAng="-5400000"/>
                <a:close/>
              </a:path>
            </a:pathLst>
          </a:custGeom>
          <a:solidFill>
            <a:srgbClr val="000000"/>
          </a:solidFill>
          <a:ln/>
        </p:spPr>
        <p:txBody>
          <a:bodyPr/>
          <a:p/>
        </p:txBody>
      </p:sp>
      <p:sp>
        <p:nvSpPr>
          <p:cNvPr id="7" name="Text 4"/>
          <p:cNvSpPr/>
          <p:nvPr/>
        </p:nvSpPr>
        <p:spPr>
          <a:xfrm>
            <a:off x="1168400" y="2109477"/>
            <a:ext cx="554421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Public Sans" pitchFamily="34" charset="0"/>
                <a:ea typeface="Public Sans" pitchFamily="34" charset="-122"/>
                <a:cs typeface="Public Sans" pitchFamily="34" charset="-120"/>
              </a:rPr>
              <a:t>Conclusion</a:t>
            </a:r>
            <a:endParaRPr lang="en-US" sz="1800" dirty="0"/>
          </a:p>
        </p:txBody>
      </p:sp>
      <p:sp>
        <p:nvSpPr>
          <p:cNvPr id="8" name="Text 5"/>
          <p:cNvSpPr/>
          <p:nvPr/>
        </p:nvSpPr>
        <p:spPr>
          <a:xfrm>
            <a:off x="1252982" y="2510792"/>
            <a:ext cx="5452016" cy="1163320"/>
          </a:xfrm>
          <a:prstGeom prst="rect">
            <a:avLst/>
          </a:prstGeom>
          <a:noFill/>
          <a:ln/>
        </p:spPr>
        <p:txBody>
          <a:bodyPr wrap="square" lIns="0" tIns="0" rIns="0" bIns="0" rtlCol="0" anchor="t">
            <a:normAutofit/>
          </a:bodyPr>
          <a:lstStyle/>
          <a:p>
            <a:r>
              <a:t>• Objective 1: Preprocessed and validated 7,200 brain MRI images across 4 balanced classes.</a:t>
            </a:r>
          </a:p>
          <a:p>
            <a:r>
              <a:t>• Objective 2: Demonstrated transfer learning superiority: EfficientNet-B0 (87.50% Acc, 0.8699 F1) outperformed custom CNN (68.75% Acc, 0.6624 F1) with 61% fewer trainable parameters.</a:t>
            </a:r>
          </a:p>
          <a:p>
            <a:r>
              <a:t>• Objective 3: Implemented explainable AI (Grad-CAM &amp; Grad-CAM++) and uncertainty gating in an interactive Streamlit app.</a:t>
            </a:r>
          </a:p>
          <a:p>
            <a:r>
              <a:t>• Limitation: Public dataset lacks patient IDs; volumetric slice leakage cannot be ruled out clinically.</a:t>
            </a:r>
          </a:p>
        </p:txBody>
      </p:sp>
      <p:sp>
        <p:nvSpPr>
          <p:cNvPr id="9" name="Shape 6"/>
          <p:cNvSpPr/>
          <p:nvPr/>
        </p:nvSpPr>
        <p:spPr>
          <a:xfrm>
            <a:off x="7120096" y="1794508"/>
            <a:ext cx="4259104" cy="4047490"/>
          </a:xfrm>
          <a:prstGeom prst="roundRect">
            <a:avLst>
              <a:gd name="adj" fmla="val 3138"/>
            </a:avLst>
          </a:prstGeom>
          <a:solidFill>
            <a:srgbClr val="FFFFFF"/>
          </a:solidFill>
          <a:ln/>
        </p:spPr>
        <p:txBody>
          <a:bodyPr/>
          <a:p/>
        </p:txBody>
      </p:sp>
      <p:sp>
        <p:nvSpPr>
          <p:cNvPr id="10" name="Shape 7"/>
          <p:cNvSpPr/>
          <p:nvPr/>
        </p:nvSpPr>
        <p:spPr>
          <a:xfrm>
            <a:off x="7120096" y="1794508"/>
            <a:ext cx="4259104" cy="4047490"/>
          </a:xfrm>
          <a:custGeom>
            <a:avLst/>
            <a:gdLst/>
            <a:ahLst/>
            <a:cxnLst/>
            <a:rect l="l" t="t" r="r" b="b"/>
            <a:pathLst>
              <a:path w="4259104" h="4047490">
                <a:moveTo>
                  <a:pt x="127000" y="0"/>
                </a:moveTo>
                <a:lnTo>
                  <a:pt x="4132104" y="0"/>
                </a:lnTo>
                <a:arcTo wR="127000" hR="127000" stAng="16200000" swAng="5400000"/>
                <a:lnTo>
                  <a:pt x="4259104" y="3920490"/>
                </a:lnTo>
                <a:arcTo wR="127000" hR="127000" stAng="0" swAng="5400000"/>
                <a:lnTo>
                  <a:pt x="127000" y="4047490"/>
                </a:lnTo>
                <a:arcTo wR="127000" hR="127000" stAng="5400000" swAng="5400000"/>
                <a:lnTo>
                  <a:pt x="0" y="127000"/>
                </a:lnTo>
                <a:arcTo wR="127000" hR="127000" stAng="10800000" swAng="5400000"/>
                <a:close/>
                <a:moveTo>
                  <a:pt x="127000" y="12700"/>
                </a:moveTo>
                <a:arcTo wR="76200" hR="114300" stAng="16200000" swAng="-5400000"/>
                <a:lnTo>
                  <a:pt x="50800" y="3920490"/>
                </a:lnTo>
                <a:arcTo wR="76200" hR="114300" stAng="10800000" swAng="-5400000"/>
                <a:lnTo>
                  <a:pt x="4132104" y="4034790"/>
                </a:lnTo>
                <a:arcTo wR="114300" hR="114300" stAng="5400000" swAng="-5400000"/>
                <a:lnTo>
                  <a:pt x="4246404" y="127000"/>
                </a:lnTo>
                <a:arcTo wR="114300" hR="114300" stAng="0" swAng="-5400000"/>
                <a:close/>
              </a:path>
            </a:pathLst>
          </a:custGeom>
          <a:solidFill>
            <a:srgbClr val="000000"/>
          </a:solidFill>
          <a:ln/>
        </p:spPr>
        <p:txBody>
          <a:bodyPr/>
          <a:p/>
        </p:txBody>
      </p:sp>
      <p:sp>
        <p:nvSpPr>
          <p:cNvPr id="11" name="Text 8"/>
          <p:cNvSpPr/>
          <p:nvPr/>
        </p:nvSpPr>
        <p:spPr>
          <a:xfrm>
            <a:off x="7475696" y="2109477"/>
            <a:ext cx="369620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Public Sans" pitchFamily="34" charset="0"/>
                <a:ea typeface="Public Sans" pitchFamily="34" charset="-122"/>
                <a:cs typeface="Public Sans" pitchFamily="34" charset="-120"/>
              </a:rPr>
              <a:t>Future scope</a:t>
            </a:r>
            <a:endParaRPr lang="en-US" sz="1800" dirty="0"/>
          </a:p>
        </p:txBody>
      </p:sp>
      <p:sp>
        <p:nvSpPr>
          <p:cNvPr id="12" name="Text 9"/>
          <p:cNvSpPr/>
          <p:nvPr/>
        </p:nvSpPr>
        <p:spPr>
          <a:xfrm>
            <a:off x="7560278" y="2510792"/>
            <a:ext cx="3603998" cy="878840"/>
          </a:xfrm>
          <a:prstGeom prst="rect">
            <a:avLst/>
          </a:prstGeom>
          <a:noFill/>
          <a:ln/>
        </p:spPr>
        <p:txBody>
          <a:bodyPr wrap="square" lIns="0" tIns="0" rIns="0" bIns="0" rtlCol="0" anchor="t">
            <a:normAutofit/>
          </a:bodyPr>
          <a:lstStyle/>
          <a:p>
            <a:r>
              <a:t>• Prospective clinical multi-scanner validation on native DICOM volumes.</a:t>
            </a:r>
          </a:p>
          <a:p>
            <a:r>
              <a:t>• Extension from 2D slice classification to 3D volumetric nnU-Net lesion segmentation.</a:t>
            </a:r>
          </a:p>
          <a:p>
            <a:r>
              <a:t>• Multi-modal fusion integrating MRI imaging with patient electronic health records and IDH/1p19q molecular biomarkers.</a:t>
            </a:r>
          </a:p>
        </p:txBody>
      </p:sp>
      <p:sp>
        <p:nvSpPr>
          <p:cNvPr id="13" name="Text 10"/>
          <p:cNvSpPr/>
          <p:nvPr/>
        </p:nvSpPr>
        <p:spPr>
          <a:xfrm>
            <a:off x="812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Public Sans" pitchFamily="34" charset="0"/>
                <a:ea typeface="Public Sans" pitchFamily="34" charset="-122"/>
                <a:cs typeface="Public Sans" pitchFamily="34" charset="-120"/>
              </a:rPr>
              <a:t>The Apollo University · Dept. of CSE (AI &amp; DS) · Mini Project Review [III]</a:t>
            </a:r>
            <a:endParaRPr lang="en-US" sz="1200" dirty="0"/>
          </a:p>
        </p:txBody>
      </p:sp>
      <p:sp>
        <p:nvSpPr>
          <p:cNvPr id="14" name="Text 11"/>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Public Sans" pitchFamily="34" charset="0"/>
                <a:ea typeface="Public Sans" pitchFamily="34" charset="-122"/>
                <a:cs typeface="Public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pic>
        <p:nvPicPr>
          <p:cNvPr id="2" name="Image 0" descr="The Apollo University logo"/>
          <p:cNvPicPr>
            <a:picLocks noChangeAspect="1"/>
          </p:cNvPicPr>
          <p:nvPr/>
        </p:nvPicPr>
        <p:blipFill>
          <a:blip r:embed="rId3"/>
          <a:srcRect l="-12500" r="-12500"/>
          <a:stretch/>
        </p:blipFill>
        <p:spPr>
          <a:xfrm>
            <a:off x="10426700" y="609600"/>
            <a:ext cx="952500" cy="762000"/>
          </a:xfrm>
          <a:prstGeom prst="rect">
            <a:avLst/>
          </a:prstGeom>
        </p:spPr>
      </p:pic>
      <p:sp>
        <p:nvSpPr>
          <p:cNvPr id="3" name="Text 0"/>
          <p:cNvSpPr/>
          <p:nvPr/>
        </p:nvSpPr>
        <p:spPr>
          <a:xfrm>
            <a:off x="812800" y="812800"/>
            <a:ext cx="941832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Public Sans" pitchFamily="34" charset="0"/>
                <a:ea typeface="Public Sans" pitchFamily="34" charset="-122"/>
                <a:cs typeface="Public Sans" pitchFamily="34" charset="-120"/>
              </a:rPr>
              <a:t>REFERENCES</a:t>
            </a:r>
            <a:endParaRPr lang="en-US" sz="1200" dirty="0"/>
          </a:p>
        </p:txBody>
      </p:sp>
      <p:sp>
        <p:nvSpPr>
          <p:cNvPr id="4" name="Text 1"/>
          <p:cNvSpPr>
            <a:spLocks noGrp="1"/>
          </p:cNvSpPr>
          <p:nvPr>
            <p:ph type="title"/>
          </p:nvPr>
        </p:nvSpPr>
        <p:spPr>
          <a:xfrm>
            <a:off x="812800" y="1102358"/>
            <a:ext cx="941832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00000"/>
                </a:solidFill>
                <a:latin typeface="Libre Baskerville" pitchFamily="18" charset="0"/>
                <a:ea typeface="Libre Baskerville" pitchFamily="18" charset="-122"/>
                <a:cs typeface="Libre Baskerville" pitchFamily="18" charset="-120"/>
              </a:rPr>
              <a:t>References</a:t>
            </a:r>
            <a:endParaRPr lang="en-US" sz="3000" dirty="0"/>
          </a:p>
        </p:txBody>
      </p:sp>
      <p:sp>
        <p:nvSpPr>
          <p:cNvPr id="5" name="Text 2"/>
          <p:cNvSpPr/>
          <p:nvPr/>
        </p:nvSpPr>
        <p:spPr>
          <a:xfrm>
            <a:off x="812800" y="1794508"/>
            <a:ext cx="10883392" cy="273050"/>
          </a:xfrm>
          <a:prstGeom prst="rect">
            <a:avLst/>
          </a:prstGeom>
          <a:noFill/>
          <a:ln/>
        </p:spPr>
        <p:txBody>
          <a:bodyPr wrap="square" lIns="0" tIns="0" rIns="0" bIns="0" rtlCol="0" anchor="t">
            <a:normAutofit/>
          </a:bodyPr>
          <a:lstStyle/>
          <a:p>
            <a:r>
              <a:t>[1] Tan, M. and Le, Q., 2019. EfficientNet: Rethinking model scaling for convolutional neural networks. ICML 2019, PMLR, pp. 6105-6114.</a:t>
            </a:r>
          </a:p>
          <a:p>
            <a:r>
              <a:t>[2] Selvaraju, R.R. et al., 2017. Grad-CAM: Visual explanations from deep networks via gradient-based localization. ICCV 2017, pp. 618-626.</a:t>
            </a:r>
          </a:p>
          <a:p>
            <a:r>
              <a:t>[3] Chattopadhay, A. et al., 2018. Grad-CAM++: Generalized gradient-based visual explanations. WACV 2018, pp. 839-847.</a:t>
            </a:r>
          </a:p>
          <a:p>
            <a:r>
              <a:t>[4] Nickparvar, M., 2021. Brain Tumor MRI Dataset. Kaggle. DOI: 10.34740/KAGGLE/DSV/2645886.</a:t>
            </a:r>
          </a:p>
          <a:p>
            <a:r>
              <a:t>[5] Badža, M.M. and Barjaktarović, M.Č., 2020. Classification of brain tumors from MRI images using CNN. Applied Sciences, 10(6), p. 1999.</a:t>
            </a:r>
          </a:p>
          <a:p>
            <a:r>
              <a:t>[6] Deepak, S. and Ameer, P.M., 2019. Brain tumor classification using transfer learning with SVM. Comp. Biol. Med., 111, p. 103345.</a:t>
            </a:r>
          </a:p>
          <a:p>
            <a:r>
              <a:t>[7] Swati, Z.N.K. et al., 2019. Brain tumor classification for MR images using transfer learning. Comp. Med. Imag. Graph., 75, pp. 34-46.</a:t>
            </a:r>
          </a:p>
          <a:p>
            <a:r>
              <a:t>[8] Guo, C. et al., 2017. On calibration of modern neural networks. ICML 2017, PMLR, pp. 1321-1330.</a:t>
            </a:r>
          </a:p>
        </p:txBody>
      </p:sp>
      <p:sp>
        <p:nvSpPr>
          <p:cNvPr id="6" name="Text 3"/>
          <p:cNvSpPr/>
          <p:nvPr/>
        </p:nvSpPr>
        <p:spPr>
          <a:xfrm>
            <a:off x="812800" y="2169158"/>
            <a:ext cx="10883392"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00000"/>
                </a:solidFill>
                <a:latin typeface="Public Sans" pitchFamily="34" charset="0"/>
                <a:ea typeface="Public Sans" pitchFamily="34" charset="-122"/>
                <a:cs typeface="Public Sans" pitchFamily="34" charset="-120"/>
              </a:rPr>
              <a:t>[2] Author 1, Author 2 &amp; Author 3, Paper title, </a:t>
            </a:r>
            <a:r>
              <a:rPr lang="en-US" sz="1300" i="1" dirty="0">
                <a:solidFill>
                  <a:srgbClr val="000000"/>
                </a:solidFill>
                <a:latin typeface="Public Sans" pitchFamily="34" charset="0"/>
                <a:ea typeface="Public Sans" pitchFamily="34" charset="-122"/>
                <a:cs typeface="Public Sans" pitchFamily="34" charset="-120"/>
              </a:rPr>
              <a:t>Proceedings of the Conference name</a:t>
            </a:r>
            <a:r>
              <a:rPr lang="en-US" sz="1300" dirty="0">
                <a:solidFill>
                  <a:srgbClr val="000000"/>
                </a:solidFill>
                <a:latin typeface="Public Sans" pitchFamily="34" charset="0"/>
                <a:ea typeface="Public Sans" pitchFamily="34" charset="-122"/>
                <a:cs typeface="Public Sans" pitchFamily="34" charset="-120"/>
              </a:rPr>
              <a:t>, Year, pp. a–b.</a:t>
            </a:r>
            <a:endParaRPr lang="en-US" sz="1300" dirty="0"/>
          </a:p>
        </p:txBody>
      </p:sp>
      <p:sp>
        <p:nvSpPr>
          <p:cNvPr id="7" name="Text 4"/>
          <p:cNvSpPr/>
          <p:nvPr/>
        </p:nvSpPr>
        <p:spPr>
          <a:xfrm>
            <a:off x="812800" y="2543808"/>
            <a:ext cx="10883392"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00000"/>
                </a:solidFill>
                <a:latin typeface="Public Sans" pitchFamily="34" charset="0"/>
                <a:ea typeface="Public Sans" pitchFamily="34" charset="-122"/>
                <a:cs typeface="Public Sans" pitchFamily="34" charset="-120"/>
              </a:rPr>
              <a:t>[3] Author, </a:t>
            </a:r>
            <a:r>
              <a:rPr lang="en-US" sz="1300" i="1" dirty="0">
                <a:solidFill>
                  <a:srgbClr val="000000"/>
                </a:solidFill>
                <a:latin typeface="Public Sans" pitchFamily="34" charset="0"/>
                <a:ea typeface="Public Sans" pitchFamily="34" charset="-122"/>
                <a:cs typeface="Public Sans" pitchFamily="34" charset="-120"/>
              </a:rPr>
              <a:t>Book title</a:t>
            </a:r>
            <a:r>
              <a:rPr lang="en-US" sz="1300" dirty="0">
                <a:solidFill>
                  <a:srgbClr val="000000"/>
                </a:solidFill>
                <a:latin typeface="Public Sans" pitchFamily="34" charset="0"/>
                <a:ea typeface="Public Sans" pitchFamily="34" charset="-122"/>
                <a:cs typeface="Public Sans" pitchFamily="34" charset="-120"/>
              </a:rPr>
              <a:t>, Year, Publisher, City.</a:t>
            </a:r>
            <a:endParaRPr lang="en-US" sz="1300" dirty="0"/>
          </a:p>
        </p:txBody>
      </p:sp>
      <p:sp>
        <p:nvSpPr>
          <p:cNvPr id="8" name="Text 5"/>
          <p:cNvSpPr/>
          <p:nvPr/>
        </p:nvSpPr>
        <p:spPr>
          <a:xfrm>
            <a:off x="812800" y="2918458"/>
            <a:ext cx="10883392"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00000"/>
                </a:solidFill>
                <a:latin typeface="Public Sans" pitchFamily="34" charset="0"/>
                <a:ea typeface="Public Sans" pitchFamily="34" charset="-122"/>
                <a:cs typeface="Public Sans" pitchFamily="34" charset="-120"/>
              </a:rPr>
              <a:t>[4] Organisation, Page title, Year. Available from: &lt;URL&gt; [Accessed DD Month YYYY].</a:t>
            </a:r>
            <a:endParaRPr lang="en-US" sz="1300" dirty="0"/>
          </a:p>
        </p:txBody>
      </p:sp>
      <p:sp>
        <p:nvSpPr>
          <p:cNvPr id="9" name="Text 6"/>
          <p:cNvSpPr/>
          <p:nvPr/>
        </p:nvSpPr>
        <p:spPr>
          <a:xfrm>
            <a:off x="812800" y="3293108"/>
            <a:ext cx="10883392"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00000"/>
                </a:solidFill>
                <a:latin typeface="Public Sans" pitchFamily="34" charset="0"/>
                <a:ea typeface="Public Sans" pitchFamily="34" charset="-122"/>
                <a:cs typeface="Public Sans" pitchFamily="34" charset="-120"/>
              </a:rPr>
              <a:t>[5] [ … ]</a:t>
            </a:r>
            <a:endParaRPr lang="en-US" sz="1300" dirty="0"/>
          </a:p>
        </p:txBody>
      </p:sp>
      <p:sp>
        <p:nvSpPr>
          <p:cNvPr id="10" name="Text 7"/>
          <p:cNvSpPr/>
          <p:nvPr/>
        </p:nvSpPr>
        <p:spPr>
          <a:xfrm>
            <a:off x="812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Public Sans" pitchFamily="34" charset="0"/>
                <a:ea typeface="Public Sans" pitchFamily="34" charset="-122"/>
                <a:cs typeface="Public Sans" pitchFamily="34" charset="-120"/>
              </a:rPr>
              <a:t>The Apollo University · Dept. of CSE (AI &amp; DS) · Mini Project Review [I / II / III]</a:t>
            </a:r>
            <a:endParaRPr lang="en-US" sz="1200" dirty="0"/>
          </a:p>
        </p:txBody>
      </p:sp>
      <p:sp>
        <p:nvSpPr>
          <p:cNvPr id="11" name="Text 8"/>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00000"/>
                </a:solidFill>
                <a:latin typeface="Public Sans" pitchFamily="34" charset="0"/>
                <a:ea typeface="Public Sans" pitchFamily="34" charset="-122"/>
                <a:cs typeface="Public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9150" y="2207258"/>
            <a:ext cx="3476625" cy="347980"/>
          </a:xfrm>
          <a:prstGeom prst="roundRect">
            <a:avLst>
              <a:gd name="adj" fmla="val 50000"/>
            </a:avLst>
          </a:prstGeom>
          <a:solidFill>
            <a:srgbClr val="FFFFFF"/>
          </a:solidFill>
          <a:ln w="12700">
            <a:solidFill>
              <a:srgbClr val="000000"/>
            </a:solidFill>
            <a:prstDash val="solid"/>
          </a:ln>
        </p:spPr>
        <p:txBody>
          <a:bodyPr wrap="none" lIns="0" tIns="0" rIns="0" bIns="0" rtlCol="0" anchor="ctr">
            <a:normAutofit/>
          </a:bodyPr>
          <a:lstStyle/>
          <a:p>
            <a:pPr marL="0" indent="0" algn="ctr">
              <a:lnSpc>
                <a:spcPts val="1680"/>
              </a:lnSpc>
              <a:buNone/>
            </a:pPr>
            <a:r>
              <a:rPr lang="en-US" sz="1200" b="1" kern="0" spc="150" dirty="0">
                <a:solidFill>
                  <a:srgbClr val="000000"/>
                </a:solidFill>
                <a:latin typeface="Public Sans" pitchFamily="34" charset="0"/>
                <a:ea typeface="Public Sans" pitchFamily="34" charset="-122"/>
                <a:cs typeface="Public Sans" pitchFamily="34" charset="-120"/>
              </a:rPr>
              <a:t>MINI PROJECT REVIEW – [I / II / III]</a:t>
            </a:r>
            <a:endParaRPr lang="en-US" sz="1200" dirty="0"/>
          </a:p>
        </p:txBody>
      </p:sp>
      <p:sp>
        <p:nvSpPr>
          <p:cNvPr id="3" name="Text 1"/>
          <p:cNvSpPr>
            <a:spLocks noGrp="1"/>
          </p:cNvSpPr>
          <p:nvPr>
            <p:ph type="title"/>
          </p:nvPr>
        </p:nvSpPr>
        <p:spPr>
          <a:xfrm>
            <a:off x="812800" y="2764792"/>
            <a:ext cx="8162544" cy="69596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000000"/>
                </a:solidFill>
                <a:latin typeface="Libre Baskerville" pitchFamily="18" charset="0"/>
                <a:ea typeface="Libre Baskerville" pitchFamily="18" charset="-122"/>
                <a:cs typeface="Libre Baskerville" pitchFamily="18" charset="-120"/>
              </a:rPr>
              <a:t>Thank you</a:t>
            </a:r>
            <a:endParaRPr lang="en-US" sz="4800" dirty="0"/>
          </a:p>
        </p:txBody>
      </p:sp>
      <p:sp>
        <p:nvSpPr>
          <p:cNvPr id="4" name="Text 2"/>
          <p:cNvSpPr/>
          <p:nvPr/>
        </p:nvSpPr>
        <p:spPr>
          <a:xfrm>
            <a:off x="812800" y="3638550"/>
            <a:ext cx="8162544"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000000"/>
                </a:solidFill>
                <a:latin typeface="Public Sans" pitchFamily="34" charset="0"/>
                <a:ea typeface="Public Sans" pitchFamily="34" charset="-122"/>
                <a:cs typeface="Public Sans" pitchFamily="34" charset="-120"/>
              </a:rPr>
              <a:t>Questions and suggestions are welcome.</a:t>
            </a:r>
            <a:endParaRPr lang="en-US" sz="1800" dirty="0"/>
          </a:p>
        </p:txBody>
      </p:sp>
      <p:sp>
        <p:nvSpPr>
          <p:cNvPr id="5" name="Text 3"/>
          <p:cNvSpPr/>
          <p:nvPr/>
        </p:nvSpPr>
        <p:spPr>
          <a:xfrm>
            <a:off x="812800" y="4161792"/>
            <a:ext cx="8162544" cy="520700"/>
          </a:xfrm>
          <a:prstGeom prst="rect">
            <a:avLst/>
          </a:prstGeom>
          <a:noFill/>
          <a:ln/>
        </p:spPr>
        <p:txBody>
          <a:bodyPr wrap="square" lIns="0" tIns="0" rIns="0" bIns="0" rtlCol="0" anchor="t">
            <a:normAutofit/>
          </a:bodyPr>
          <a:lstStyle/>
          <a:p>
            <a:r>
              <a:t>Dinesh Kumar | Guide: Dr. K. Ramanathan, Ph.D. | The Apollo University</a:t>
            </a:r>
          </a:p>
        </p:txBody>
      </p:sp>
      <p:sp>
        <p:nvSpPr>
          <p:cNvPr id="6" name="Shape 4"/>
          <p:cNvSpPr/>
          <p:nvPr/>
        </p:nvSpPr>
        <p:spPr>
          <a:xfrm>
            <a:off x="9353550" y="2419350"/>
            <a:ext cx="2019300" cy="2019300"/>
          </a:xfrm>
          <a:prstGeom prst="roundRect">
            <a:avLst>
              <a:gd name="adj" fmla="val 9748"/>
            </a:avLst>
          </a:prstGeom>
          <a:solidFill>
            <a:srgbClr val="FFFFFF"/>
          </a:solidFill>
          <a:ln w="12700">
            <a:solidFill>
              <a:srgbClr val="000000"/>
            </a:solidFill>
            <a:prstDash val="solid"/>
          </a:ln>
        </p:spPr>
        <p:txBody>
          <a:bodyPr/>
          <a:p/>
        </p:txBody>
      </p:sp>
      <p:pic>
        <p:nvPicPr>
          <p:cNvPr id="7" name="Image 0" descr="The Apollo University logo"/>
          <p:cNvPicPr>
            <a:picLocks noChangeAspect="1"/>
          </p:cNvPicPr>
          <p:nvPr/>
        </p:nvPicPr>
        <p:blipFill>
          <a:blip r:embed="rId3"/>
          <a:srcRect/>
          <a:stretch/>
        </p:blipFill>
        <p:spPr>
          <a:xfrm>
            <a:off x="9550400" y="2616200"/>
            <a:ext cx="1625600" cy="1625600"/>
          </a:xfrm>
          <a:prstGeom prst="rect">
            <a:avLst/>
          </a:prstGeom>
        </p:spPr>
      </p:pic>
    </p:spTree>
  </p:cSld>
  <p:clrMapOvr>
    <a:masterClrMapping/>
  </p:clrMapOvr>
</p:sld>
</file>

<file path=ppt/theme/theme1.xml><?xml version="1.0" encoding="utf-8"?>
<a:theme xmlns:a="http://schemas.openxmlformats.org/drawingml/2006/main" name="Mini Project Review Template">
  <a:themeElements>
    <a:clrScheme name="Mini Project Review Template">
      <a:dk1>
        <a:srgbClr val="000000"/>
      </a:dk1>
      <a:lt1>
        <a:srgbClr val="FFFFFF"/>
      </a:lt1>
      <a:dk2>
        <a:srgbClr val="404040"/>
      </a:dk2>
      <a:lt2>
        <a:srgbClr val="E6E6E6"/>
      </a:lt2>
      <a:accent1>
        <a:srgbClr val="9AA0A6"/>
      </a:accent1>
      <a:accent2>
        <a:srgbClr val="666666"/>
      </a:accent2>
      <a:accent3>
        <a:srgbClr val="8C8C8C"/>
      </a:accent3>
      <a:accent4>
        <a:srgbClr val="B3B3B3"/>
      </a:accent4>
      <a:accent5>
        <a:srgbClr val="CCCCCC"/>
      </a:accent5>
      <a:accent6>
        <a:srgbClr val="262626"/>
      </a:accent6>
      <a:hlink>
        <a:srgbClr val="0563C1"/>
      </a:hlink>
      <a:folHlink>
        <a:srgbClr val="954F72"/>
      </a:folHlink>
    </a:clrScheme>
    <a:fontScheme name="Mini Project Review Template">
      <a:majorFont>
        <a:latin typeface="Public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2458</Words>
  <Application>Microsoft Office PowerPoint</Application>
  <PresentationFormat>Widescreen</PresentationFormat>
  <Paragraphs>403</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Libre Baskerville</vt:lpstr>
      <vt:lpstr>Public Sans</vt:lpstr>
      <vt:lpstr>Mini Project Review Template</vt:lpstr>
      <vt:lpstr>[Title of the Mini Project]</vt:lpstr>
      <vt:lpstr>What to present at each review</vt:lpstr>
      <vt:lpstr>Contents of this review</vt:lpstr>
      <vt:lpstr>Abstract</vt:lpstr>
      <vt:lpstr>Background and motivation</vt:lpstr>
      <vt:lpstr>“[State the problem in one or two sentences: what is wrong today, who is affected, and what the project will do about it.]”</vt:lpstr>
      <vt:lpstr>Objectives and scope</vt:lpstr>
      <vt:lpstr>Summary of related work</vt:lpstr>
      <vt:lpstr>From existing systems to the proposed system</vt:lpstr>
      <vt:lpstr>Proposed system architecture</vt:lpstr>
      <vt:lpstr>Hardware and software requirements</vt:lpstr>
      <vt:lpstr>Workflow of the proposed system</vt:lpstr>
      <vt:lpstr>Module description</vt:lpstr>
      <vt:lpstr>Work plan and progress</vt:lpstr>
      <vt:lpstr>Implementation and output screens</vt:lpstr>
      <vt:lpstr>Results and performance analysis</vt:lpstr>
      <vt:lpstr>Test cases and results</vt:lpstr>
      <vt:lpstr>Conclusion and future scope</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Project Review Template</dc:title>
  <dc:subject/>
  <dc:creator/>
  <cp:lastModifiedBy>ezhilarasan elumalai</cp:lastModifiedBy>
  <cp:revision>1</cp:revision>
  <dcterms:created xsi:type="dcterms:W3CDTF">2026-10-08T10:16:52Z</dcterms:created>
  <dcterms:modified xsi:type="dcterms:W3CDTF">2026-10-08T10:17:39Z</dcterms:modified>
</cp:coreProperties>
</file>